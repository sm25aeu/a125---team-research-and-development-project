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89" r:id="rId5"/>
    <p:sldId id="340" r:id="rId6"/>
    <p:sldId id="329" r:id="rId7"/>
    <p:sldId id="33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249" userDrawn="1">
          <p15:clr>
            <a:srgbClr val="A4A3A4"/>
          </p15:clr>
        </p15:guide>
        <p15:guide id="4" pos="7068" userDrawn="1">
          <p15:clr>
            <a:srgbClr val="A4A3A4"/>
          </p15:clr>
        </p15:guide>
        <p15:guide id="5" orient="horz" pos="13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CBE"/>
    <a:srgbClr val="85509A"/>
    <a:srgbClr val="714484"/>
    <a:srgbClr val="0073CF"/>
    <a:srgbClr val="203232"/>
    <a:srgbClr val="30454F"/>
    <a:srgbClr val="1295D8"/>
    <a:srgbClr val="004A5C"/>
    <a:srgbClr val="0093B6"/>
    <a:srgbClr val="00B9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1EB13-4B4A-3A65-7705-B39B10420BC6}" v="11" dt="2025-11-07T13:21:13.889"/>
    <p1510:client id="{94404E7A-4EB2-D0DE-A758-3B2FEF7E6025}" v="1178" dt="2025-11-07T14:31:40.7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>
        <p:guide orient="horz" pos="2160"/>
        <p:guide pos="3840"/>
        <p:guide orient="horz" pos="3249"/>
        <p:guide pos="7068"/>
        <p:guide orient="horz" pos="13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8966F2-21A1-4B2B-ADA6-AD0BB447B7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468BB-CDF2-4507-B4EF-7B369D307A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AC3A-BD1F-4A00-9099-74B95789FE00}" type="datetimeFigureOut">
              <a:rPr lang="en-GB" smtClean="0"/>
              <a:pPr/>
              <a:t>05/12/2025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BCF7D-6037-48D3-84E5-56B8B05521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9E732-656C-4BB5-ACCB-1568C5C66D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51D9-0FEB-436E-9280-D6033F6035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584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59C8A-39F6-4045-9163-4042C4C26B15}" type="datetimeFigureOut">
              <a:rPr lang="en-GB" smtClean="0"/>
              <a:pPr/>
              <a:t>05/12/2025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70952-48CC-46D7-9FCD-59FAD40CC02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23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718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941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984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Hertfordshire logo">
            <a:extLst>
              <a:ext uri="{FF2B5EF4-FFF2-40B4-BE49-F238E27FC236}">
                <a16:creationId xmlns:a16="http://schemas.microsoft.com/office/drawing/2014/main" id="{16E4BB13-0D32-AA4A-BF91-2B76A7C182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4000" y="2854800"/>
            <a:ext cx="6501600" cy="115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6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4000" y="1890000"/>
            <a:ext cx="10031156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BCCF2CA0-CCE3-4304-8F31-4D1CC50BCB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000" y="5511600"/>
            <a:ext cx="2242800" cy="39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1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000" y="1890000"/>
            <a:ext cx="7200000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91022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449821-0D0D-644D-97A3-D56097A9C6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6EB17-8019-7B4E-B53C-76B057A7C31F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03EF50-F00F-9643-BE53-F0A5272FC4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998" y="5517266"/>
            <a:ext cx="2244881" cy="3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0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FBDFA-876B-4255-A301-F62F1EDD8D6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73668" y="2717444"/>
            <a:ext cx="4903200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6000" y="2717444"/>
            <a:ext cx="4456800" cy="31752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A19DAE-53D8-4F04-A4B9-B6EDFC23886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46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5" userDrawn="1">
          <p15:clr>
            <a:srgbClr val="FBAE40"/>
          </p15:clr>
        </p15:guide>
        <p15:guide id="3" pos="3989" userDrawn="1">
          <p15:clr>
            <a:srgbClr val="FBAE40"/>
          </p15:clr>
        </p15:guide>
        <p15:guide id="4" pos="37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2717600"/>
            <a:ext cx="10251722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322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/>
          <a:p>
            <a:r>
              <a:rPr lang="en-US"/>
              <a:t>Click to add title.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73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ar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9D4C03-E8B1-644E-949B-F7AF911818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chemeClr val="bg1"/>
                </a:solidFill>
              </a:defRPr>
            </a:lvl1pPr>
            <a:lvl2pPr>
              <a:defRPr lang="en-US" dirty="0" smtClean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EDA17D-AAE6-954F-93C6-90B8D7B80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62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 +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35952" y="2728800"/>
            <a:ext cx="2959200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GB" spc="-100" baseline="0" dirty="0"/>
            </a:lvl4pPr>
            <a:lvl5pPr>
              <a:defRPr spc="-100" baseline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74043F1-6F14-49BD-83CA-12B559ABC1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088" y="2728913"/>
            <a:ext cx="6400800" cy="4129087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51C537-0174-43E5-8B81-C80AF1D06831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11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FCF96-B7D6-4CCD-A4AE-46A67249D3B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1F3B7A-B2BF-40FC-8EB2-F1C37D3164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3999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75B7A667-B99F-7A41-AAC3-ED24B9B1D92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78804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93C1FF47-695D-B348-AF37-1ADF5736FA9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13975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604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7C322-846C-9045-AD91-A93C82FC5A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92035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9ABCF9A5-761F-434B-BBB5-D788CB1E79D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140400" y="140400"/>
            <a:ext cx="11916000" cy="6580800"/>
          </a:xfrm>
          <a:solidFill>
            <a:schemeClr val="bg1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809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99880E3-4DE3-A642-9738-DF49DDCC9AC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70139" y="4079342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37D495-D835-8E4B-A177-5E12F893DD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077200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6804C7E-983C-9246-90C0-AF8A0CE2CA84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523669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410427-8F1D-7541-9C05-AFDD3531678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6217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8B7D5964-7A97-5742-8717-CCB747F84A0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01570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344933FE-A401-A841-9AC3-B75285AA32D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569236" y="1640942"/>
            <a:ext cx="2160587" cy="21605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31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2CE188-32E7-4242-9E44-E8055FC030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4002" y="5511600"/>
            <a:ext cx="2242795" cy="3979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844" y="1964352"/>
            <a:ext cx="11828559" cy="1051570"/>
          </a:xfrm>
        </p:spPr>
        <p:txBody>
          <a:bodyPr vert="horz" wrap="none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lang="en-GB" sz="7386" spc="-3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8186"/>
              </a:lnSpc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BE80A-BFEC-E24A-B510-73A571F1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B25B4-144A-5B4A-8EAD-2022412D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170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A62CF-E2B4-496D-829D-DCE37260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000" y="1890000"/>
            <a:ext cx="1027915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84EF4-0E07-4BF3-A4AB-3E8632AA7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139" y="2717600"/>
            <a:ext cx="10279150" cy="317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 b="1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27A5D-B761-4C2F-97E6-5D8254424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0139" y="775255"/>
            <a:ext cx="7176911" cy="2308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661B1-4E4B-4F85-ACA3-C34023D70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5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00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77" r:id="rId3"/>
    <p:sldLayoutId id="2147483652" r:id="rId4"/>
    <p:sldLayoutId id="2147483682" r:id="rId5"/>
    <p:sldLayoutId id="2147483721" r:id="rId6"/>
    <p:sldLayoutId id="2147483722" r:id="rId7"/>
    <p:sldLayoutId id="2147483684" r:id="rId8"/>
    <p:sldLayoutId id="2147483685" r:id="rId9"/>
    <p:sldLayoutId id="2147483686" r:id="rId10"/>
    <p:sldLayoutId id="2147483723" r:id="rId11"/>
    <p:sldLayoutId id="2147483706" r:id="rId12"/>
    <p:sldLayoutId id="2147483697" r:id="rId13"/>
  </p:sldLayoutIdLst>
  <p:hf hdr="0" dt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2000" spc="-100" baseline="0">
          <a:solidFill>
            <a:srgbClr val="20323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b="1" kern="2000" spc="-100" baseline="0">
          <a:solidFill>
            <a:srgbClr val="20323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Char char="■"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rgbClr val="20323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rgbClr val="2032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4" pos="604" userDrawn="1">
          <p15:clr>
            <a:srgbClr val="F26B43"/>
          </p15:clr>
        </p15:guide>
        <p15:guide id="5" pos="7076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604" userDrawn="1">
          <p15:clr>
            <a:srgbClr val="F26B43"/>
          </p15:clr>
        </p15:guide>
        <p15:guide id="10" orient="horz" pos="3712" userDrawn="1">
          <p15:clr>
            <a:srgbClr val="F26B43"/>
          </p15:clr>
        </p15:guide>
        <p15:guide id="11" orient="horz" pos="11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AEE4-CC66-FE42-B0C3-2CC7AFD37D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Research Question – </a:t>
            </a:r>
            <a:br>
              <a:rPr lang="en-US" dirty="0"/>
            </a:br>
            <a:r>
              <a:rPr lang="en-US" sz="4000" dirty="0"/>
              <a:t>Tutorial Presentation for Feedback</a:t>
            </a:r>
            <a:br>
              <a:rPr lang="en-US" sz="4000" dirty="0"/>
            </a:br>
            <a:r>
              <a:rPr lang="en-US" sz="2200" spc="0" dirty="0"/>
              <a:t>Date: 17/11/2025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5DA97-5166-7F4B-BC83-F50AC8BEDC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/>
              <a:t>Group Name: A125                                                     Name of Student Presenting: </a:t>
            </a:r>
            <a:r>
              <a:rPr lang="en-GB" sz="2000" dirty="0" err="1"/>
              <a:t>Gnanandar</a:t>
            </a: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F4D14-5620-EC41-A86C-6CC3CFD6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274320"/>
            <a:ext cx="10455567" cy="736245"/>
          </a:xfrm>
        </p:spPr>
        <p:txBody>
          <a:bodyPr/>
          <a:lstStyle/>
          <a:p>
            <a:r>
              <a:rPr lang="en-GB" dirty="0"/>
              <a:t>7COM1079-2025  Student Group No: A125                    Names of Student Attendees: 	Mallapareddy Sai Nikith</a:t>
            </a:r>
          </a:p>
          <a:p>
            <a:r>
              <a:rPr lang="en-GB" dirty="0"/>
              <a:t>								</a:t>
            </a:r>
            <a:r>
              <a:rPr lang="en-GB" dirty="0" err="1"/>
              <a:t>Nadavaluru</a:t>
            </a:r>
            <a:r>
              <a:rPr lang="en-GB" dirty="0"/>
              <a:t> </a:t>
            </a:r>
            <a:r>
              <a:rPr lang="en-GB" dirty="0" err="1"/>
              <a:t>Gnanandar</a:t>
            </a:r>
            <a:r>
              <a:rPr lang="en-GB" dirty="0"/>
              <a:t> Reddy</a:t>
            </a:r>
          </a:p>
          <a:p>
            <a:r>
              <a:rPr lang="en-GB" dirty="0"/>
              <a:t>								</a:t>
            </a:r>
            <a:r>
              <a:rPr lang="en-GB" dirty="0" err="1"/>
              <a:t>Narravula</a:t>
            </a:r>
            <a:r>
              <a:rPr lang="en-GB" dirty="0"/>
              <a:t> Siva Lahari</a:t>
            </a:r>
          </a:p>
          <a:p>
            <a:r>
              <a:rPr lang="en-GB" dirty="0"/>
              <a:t>								Koduri Shivani</a:t>
            </a:r>
          </a:p>
          <a:p>
            <a:r>
              <a:rPr lang="en-GB" dirty="0"/>
              <a:t>								Dandu Sravanthi</a:t>
            </a:r>
          </a:p>
        </p:txBody>
      </p:sp>
    </p:spTree>
    <p:extLst>
      <p:ext uri="{BB962C8B-B14F-4D97-AF65-F5344CB8AC3E}">
        <p14:creationId xmlns:p14="http://schemas.microsoft.com/office/powerpoint/2010/main" val="414853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E3CD731-5ACF-B002-247D-243F6E214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9" y="1147638"/>
            <a:ext cx="9753625" cy="230832"/>
          </a:xfrm>
        </p:spPr>
        <p:txBody>
          <a:bodyPr vert="horz" lIns="0" tIns="0" rIns="0" bIns="0" rtlCol="0" anchor="t">
            <a:noAutofit/>
          </a:bodyPr>
          <a:lstStyle/>
          <a:p>
            <a:pPr>
              <a:spcAft>
                <a:spcPts val="0"/>
              </a:spcAft>
            </a:pPr>
            <a:r>
              <a:rPr lang="en-GB" dirty="0">
                <a:solidFill>
                  <a:srgbClr val="203232"/>
                </a:solidFill>
                <a:cs typeface="Arial"/>
              </a:rPr>
              <a:t>Here is a sample of our dataset: </a:t>
            </a:r>
            <a:endParaRPr lang="en-GB" sz="1800" dirty="0">
              <a:solidFill>
                <a:srgbClr val="FF0000"/>
              </a:solidFill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D431B-7665-75B0-2D73-5BD588DC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61912"/>
            <a:ext cx="7176911" cy="230832"/>
          </a:xfrm>
        </p:spPr>
        <p:txBody>
          <a:bodyPr/>
          <a:lstStyle/>
          <a:p>
            <a:r>
              <a:rPr lang="en-GB" dirty="0"/>
              <a:t>PRE 7COM1079-2025  Student Group No:  A125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FA15-B17F-387B-E383-5505647A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/>
          <a:lstStyle/>
          <a:p>
            <a:r>
              <a:rPr lang="en-US"/>
              <a:t>3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7A486-8DC3-DEE1-A097-4F8F96B89EDE}"/>
              </a:ext>
            </a:extLst>
          </p:cNvPr>
          <p:cNvSpPr txBox="1"/>
          <p:nvPr/>
        </p:nvSpPr>
        <p:spPr>
          <a:xfrm>
            <a:off x="4473397" y="2969833"/>
            <a:ext cx="67658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IN" dirty="0">
                <a:solidFill>
                  <a:srgbClr val="FF0000"/>
                </a:solidFill>
              </a:rPr>
              <a:t>	</a:t>
            </a:r>
            <a:r>
              <a:rPr lang="en-IN" dirty="0" err="1">
                <a:solidFill>
                  <a:srgbClr val="FF0000"/>
                </a:solidFill>
              </a:rPr>
              <a:t>Restaurant_Name</a:t>
            </a:r>
            <a:r>
              <a:rPr lang="en-IN" dirty="0">
                <a:solidFill>
                  <a:srgbClr val="FF0000"/>
                </a:solidFill>
              </a:rPr>
              <a:t>           	Ratings_out_of_5</a:t>
            </a:r>
          </a:p>
          <a:p>
            <a:pPr latinLnBrk="1"/>
            <a:r>
              <a:rPr lang="en-IN" dirty="0">
                <a:solidFill>
                  <a:srgbClr val="FF0000"/>
                </a:solidFill>
              </a:rPr>
              <a:t>  		</a:t>
            </a:r>
            <a:r>
              <a:rPr lang="en-IN" i="1" dirty="0">
                <a:solidFill>
                  <a:srgbClr val="FF0000"/>
                </a:solidFill>
              </a:rPr>
              <a:t>&lt;chr&gt;</a:t>
            </a:r>
            <a:r>
              <a:rPr lang="en-IN" dirty="0">
                <a:solidFill>
                  <a:srgbClr val="FF0000"/>
                </a:solidFill>
              </a:rPr>
              <a:t>                    	</a:t>
            </a:r>
            <a:r>
              <a:rPr lang="en-IN" i="1" dirty="0">
                <a:solidFill>
                  <a:srgbClr val="FF0000"/>
                </a:solidFill>
              </a:rPr>
              <a:t>&lt;chr&gt;</a:t>
            </a:r>
            <a:r>
              <a:rPr lang="en-IN" dirty="0">
                <a:solidFill>
                  <a:srgbClr val="FF0000"/>
                </a:solidFill>
              </a:rPr>
              <a:t>           </a:t>
            </a:r>
          </a:p>
          <a:p>
            <a:pPr latinLnBrk="1"/>
            <a:r>
              <a:rPr lang="en-IN" dirty="0">
                <a:solidFill>
                  <a:srgbClr val="FF0000"/>
                </a:solidFill>
              </a:rPr>
              <a:t>1 	AB's - Absolute Barbecues 	4.9             </a:t>
            </a:r>
          </a:p>
          <a:p>
            <a:pPr latinLnBrk="1"/>
            <a:r>
              <a:rPr lang="en-IN" dirty="0">
                <a:solidFill>
                  <a:srgbClr val="FF0000"/>
                </a:solidFill>
              </a:rPr>
              <a:t>2 	Cafe Co2 Resto Lounge     	4.6             </a:t>
            </a:r>
          </a:p>
          <a:p>
            <a:pPr latinLnBrk="1"/>
            <a:r>
              <a:rPr lang="en-IN" dirty="0">
                <a:solidFill>
                  <a:srgbClr val="FF0000"/>
                </a:solidFill>
              </a:rPr>
              <a:t>3 	</a:t>
            </a:r>
            <a:r>
              <a:rPr lang="en-IN" dirty="0" err="1">
                <a:solidFill>
                  <a:srgbClr val="FF0000"/>
                </a:solidFill>
              </a:rPr>
              <a:t>Paasha</a:t>
            </a:r>
            <a:r>
              <a:rPr lang="en-IN" dirty="0">
                <a:solidFill>
                  <a:srgbClr val="FF0000"/>
                </a:solidFill>
              </a:rPr>
              <a:t> - JW Marriott Pune 	4.6             </a:t>
            </a:r>
          </a:p>
          <a:p>
            <a:pPr latinLnBrk="1"/>
            <a:r>
              <a:rPr lang="en-IN" dirty="0">
                <a:solidFill>
                  <a:srgbClr val="FF0000"/>
                </a:solidFill>
              </a:rPr>
              <a:t>4 	I Amsterdam               		4.3             </a:t>
            </a:r>
          </a:p>
          <a:p>
            <a:pPr latinLnBrk="1"/>
            <a:r>
              <a:rPr lang="en-IN" dirty="0">
                <a:solidFill>
                  <a:srgbClr val="FF0000"/>
                </a:solidFill>
              </a:rPr>
              <a:t>5 	FC Road Social            		4.5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6B15B6-E5F1-1198-D820-8D6E647385D3}"/>
              </a:ext>
            </a:extLst>
          </p:cNvPr>
          <p:cNvSpPr txBox="1"/>
          <p:nvPr/>
        </p:nvSpPr>
        <p:spPr>
          <a:xfrm>
            <a:off x="876797" y="1504254"/>
            <a:ext cx="1085308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For my research question, I selected two variables from the dataset:</a:t>
            </a:r>
            <a:br>
              <a:rPr lang="en-US" dirty="0"/>
            </a:br>
            <a:r>
              <a:rPr lang="en-US" b="1" dirty="0" err="1"/>
              <a:t>Restaurant_Name</a:t>
            </a:r>
            <a:r>
              <a:rPr lang="en-US" dirty="0"/>
              <a:t> and </a:t>
            </a:r>
            <a:r>
              <a:rPr lang="en-US" b="1" dirty="0"/>
              <a:t>Ratings_out_of_5</a:t>
            </a:r>
            <a:r>
              <a:rPr lang="en-US" dirty="0"/>
              <a:t>. These were extracted in RStudio using the select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it-IT" dirty="0">
                <a:solidFill>
                  <a:srgbClr val="FF0000"/>
                </a:solidFill>
              </a:rPr>
              <a:t>zomato_pune_V002 &lt;- zomato_ pune_V002 [, c(1, 5)]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/>
              <a:t>function.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first 5 rows of the selected variables are shown below, displaying the restaurant names and their corresponding ratings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dataset contains </a:t>
            </a:r>
            <a:r>
              <a:rPr lang="en-IN" dirty="0"/>
              <a:t>[1] </a:t>
            </a:r>
            <a:r>
              <a:rPr lang="en-IN" dirty="0">
                <a:solidFill>
                  <a:srgbClr val="FF0000"/>
                </a:solidFill>
              </a:rPr>
              <a:t>12189</a:t>
            </a:r>
            <a:r>
              <a:rPr lang="en-US" b="1" dirty="0"/>
              <a:t> </a:t>
            </a:r>
            <a:r>
              <a:rPr lang="en-US" dirty="0"/>
              <a:t>rows.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3092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9D8228-727F-1E46-B5AD-91D158B82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8" y="1285092"/>
            <a:ext cx="10110240" cy="588024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pc="0" dirty="0"/>
              <a:t>Dataset </a:t>
            </a:r>
            <a:r>
              <a:rPr lang="en-US" spc="0" dirty="0">
                <a:solidFill>
                  <a:srgbClr val="203232"/>
                </a:solidFill>
              </a:rPr>
              <a:t>ID</a:t>
            </a:r>
            <a:r>
              <a:rPr lang="en-US" sz="1600" b="0" spc="0" dirty="0">
                <a:solidFill>
                  <a:srgbClr val="FF0000"/>
                </a:solidFill>
              </a:rPr>
              <a:t>: ds236 </a:t>
            </a:r>
            <a:r>
              <a:rPr lang="en-IN" sz="1600" b="0" spc="0" dirty="0" err="1">
                <a:solidFill>
                  <a:srgbClr val="FF0000"/>
                </a:solidFill>
              </a:rPr>
              <a:t>Zomato_Pune</a:t>
            </a:r>
            <a:endParaRPr lang="en-IN" sz="1600" b="0" spc="0" dirty="0">
              <a:solidFill>
                <a:srgbClr val="FF0000"/>
              </a:solidFill>
            </a:endParaRPr>
          </a:p>
          <a:p>
            <a:endParaRPr lang="en-US" sz="2400" spc="0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BC183-8AA5-EC44-9987-D65F5C18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8" y="791022"/>
            <a:ext cx="9129687" cy="230832"/>
          </a:xfrm>
        </p:spPr>
        <p:txBody>
          <a:bodyPr/>
          <a:lstStyle/>
          <a:p>
            <a:r>
              <a:rPr lang="en-GB" dirty="0"/>
              <a:t>7COM1079-2025  Student Group No: A125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D9611-42EE-7840-81EE-DD6B1A99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4512" y="555565"/>
            <a:ext cx="622800" cy="230832"/>
          </a:xfrm>
        </p:spPr>
        <p:txBody>
          <a:bodyPr/>
          <a:lstStyle/>
          <a:p>
            <a:r>
              <a:rPr lang="en-US"/>
              <a:t>2</a:t>
            </a:r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FA3829-F12C-214D-8FBA-7E1A740F6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88" y="1873116"/>
            <a:ext cx="10974945" cy="339216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0" spc="0" dirty="0">
                <a:latin typeface="+mn-lt"/>
                <a:cs typeface="Calibri"/>
              </a:rPr>
              <a:t>This dataset is interesting to us because:</a:t>
            </a:r>
            <a:br>
              <a:rPr lang="en-US" sz="2000" b="0" spc="0" dirty="0">
                <a:solidFill>
                  <a:srgbClr val="FF0000"/>
                </a:solidFill>
                <a:latin typeface="+mn-lt"/>
                <a:cs typeface="Calibri"/>
              </a:rPr>
            </a:br>
            <a:r>
              <a:rPr lang="en-US" sz="2000" b="0" spc="0" dirty="0">
                <a:solidFill>
                  <a:srgbClr val="FF0000"/>
                </a:solidFill>
                <a:latin typeface="+mn-lt"/>
              </a:rPr>
              <a:t>It provides real restaurant information, allowing us to explore how different restaurant features relate to customer ratings.</a:t>
            </a:r>
            <a:br>
              <a:rPr lang="en-US" sz="2000" b="0" spc="0" dirty="0">
                <a:latin typeface="+mn-lt"/>
                <a:cs typeface="Calibri" panose="020F0502020204030204" pitchFamily="34" charset="0"/>
              </a:rPr>
            </a:br>
            <a:br>
              <a:rPr lang="en-US" sz="2000" b="0" spc="0" dirty="0">
                <a:latin typeface="+mn-lt"/>
                <a:cs typeface="Calibri" panose="020F0502020204030204" pitchFamily="34" charset="0"/>
              </a:rPr>
            </a:br>
            <a:r>
              <a:rPr lang="en-US" sz="2000" b="0" spc="0" dirty="0">
                <a:latin typeface="+mn-lt"/>
                <a:cs typeface="Calibri"/>
              </a:rPr>
              <a:t>Our  </a:t>
            </a:r>
            <a:r>
              <a:rPr lang="en-US" sz="2000" spc="0" dirty="0">
                <a:latin typeface="+mn-lt"/>
                <a:cs typeface="Calibri"/>
              </a:rPr>
              <a:t>Independent variable </a:t>
            </a:r>
            <a:r>
              <a:rPr lang="en-US" sz="2000" b="0" spc="0" dirty="0">
                <a:latin typeface="+mn-lt"/>
                <a:cs typeface="Calibri"/>
              </a:rPr>
              <a:t>is: </a:t>
            </a:r>
            <a:r>
              <a:rPr lang="en-IN" sz="2000" b="0" spc="0" dirty="0" err="1">
                <a:solidFill>
                  <a:srgbClr val="FF0000"/>
                </a:solidFill>
                <a:latin typeface="+mn-lt"/>
              </a:rPr>
              <a:t>Restaurant_Type</a:t>
            </a:r>
            <a:br>
              <a:rPr lang="en-IN" sz="2000" b="0" spc="0" dirty="0">
                <a:latin typeface="+mn-lt"/>
              </a:rPr>
            </a:br>
            <a:r>
              <a:rPr lang="en-US" sz="2000" b="0" spc="0" dirty="0">
                <a:latin typeface="+mn-lt"/>
              </a:rPr>
              <a:t>This is the category of restaurant (e.g., Casual Dining, Café, Bar).</a:t>
            </a:r>
            <a:br>
              <a:rPr lang="en-US" sz="2000" b="0" spc="0" dirty="0">
                <a:solidFill>
                  <a:srgbClr val="FF0000"/>
                </a:solidFill>
                <a:latin typeface="+mn-lt"/>
                <a:cs typeface="Calibri" panose="020F0502020204030204" pitchFamily="34" charset="0"/>
              </a:rPr>
            </a:br>
            <a:r>
              <a:rPr lang="en-US" sz="2000" b="0" spc="0" dirty="0">
                <a:latin typeface="+mn-lt"/>
                <a:cs typeface="Calibri"/>
              </a:rPr>
              <a:t>This  Independent variable datatype is: </a:t>
            </a:r>
            <a:r>
              <a:rPr lang="en-US" sz="2000" b="0" spc="0" dirty="0">
                <a:solidFill>
                  <a:srgbClr val="FF0000"/>
                </a:solidFill>
                <a:latin typeface="+mn-lt"/>
                <a:cs typeface="Calibri"/>
              </a:rPr>
              <a:t>Nominal</a:t>
            </a:r>
            <a:br>
              <a:rPr lang="en-US" sz="2000" b="0" spc="0" dirty="0">
                <a:solidFill>
                  <a:srgbClr val="FF0000"/>
                </a:solidFill>
                <a:latin typeface="+mn-lt"/>
                <a:cs typeface="Calibri"/>
              </a:rPr>
            </a:br>
            <a:br>
              <a:rPr lang="en-US" sz="2000" b="0" spc="0" dirty="0">
                <a:latin typeface="+mn-lt"/>
                <a:cs typeface="Calibri" panose="020F0502020204030204" pitchFamily="34" charset="0"/>
              </a:rPr>
            </a:br>
            <a:r>
              <a:rPr lang="en-US" sz="2000" b="0" spc="0" dirty="0">
                <a:latin typeface="+mn-lt"/>
                <a:cs typeface="Calibri"/>
              </a:rPr>
              <a:t>Our </a:t>
            </a:r>
            <a:r>
              <a:rPr lang="en-US" sz="2000" spc="0" dirty="0">
                <a:latin typeface="+mn-lt"/>
                <a:cs typeface="Calibri"/>
              </a:rPr>
              <a:t>Dependent variable </a:t>
            </a:r>
            <a:r>
              <a:rPr lang="en-US" sz="2000" b="0" spc="0" dirty="0">
                <a:latin typeface="+mn-lt"/>
                <a:cs typeface="Calibri"/>
              </a:rPr>
              <a:t>is: </a:t>
            </a:r>
            <a:r>
              <a:rPr lang="en-US" sz="2000" b="0" spc="0" dirty="0">
                <a:solidFill>
                  <a:srgbClr val="FF0000"/>
                </a:solidFill>
                <a:latin typeface="+mn-lt"/>
              </a:rPr>
              <a:t>Ratings_out_of_5</a:t>
            </a:r>
            <a:br>
              <a:rPr lang="en-US" sz="2000" b="0" spc="0" dirty="0">
                <a:latin typeface="+mn-lt"/>
              </a:rPr>
            </a:br>
            <a:r>
              <a:rPr lang="en-US" sz="2000" b="0" spc="0" dirty="0">
                <a:latin typeface="+mn-lt"/>
              </a:rPr>
              <a:t>This is the customer rating score given to each restaurant.</a:t>
            </a:r>
            <a:br>
              <a:rPr lang="en-US" sz="2000" b="0" spc="0" dirty="0">
                <a:latin typeface="+mn-lt"/>
                <a:cs typeface="Calibri" panose="020F0502020204030204" pitchFamily="34" charset="0"/>
              </a:rPr>
            </a:br>
            <a:r>
              <a:rPr lang="en-US" sz="2000" b="0" spc="0" dirty="0">
                <a:latin typeface="+mn-lt"/>
                <a:cs typeface="Calibri"/>
              </a:rPr>
              <a:t>This Dependent variable datatype is: </a:t>
            </a:r>
            <a:r>
              <a:rPr lang="en-US" sz="2000" b="0" spc="0" dirty="0">
                <a:solidFill>
                  <a:srgbClr val="FF0000"/>
                </a:solidFill>
                <a:latin typeface="+mn-lt"/>
                <a:cs typeface="Calibri"/>
              </a:rPr>
              <a:t>Interval/measurement data</a:t>
            </a:r>
          </a:p>
        </p:txBody>
      </p:sp>
    </p:spTree>
    <p:extLst>
      <p:ext uri="{BB962C8B-B14F-4D97-AF65-F5344CB8AC3E}">
        <p14:creationId xmlns:p14="http://schemas.microsoft.com/office/powerpoint/2010/main" val="1718004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E3CD731-5ACF-B002-247D-243F6E214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9" y="1147638"/>
            <a:ext cx="9753625" cy="23083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GB" dirty="0"/>
              <a:t>Our Research Question is - </a:t>
            </a:r>
            <a:r>
              <a:rPr lang="en-US" sz="1800" b="0" spc="0" dirty="0">
                <a:solidFill>
                  <a:srgbClr val="FF0000"/>
                </a:solidFill>
              </a:rPr>
              <a:t>Is there a difference in the average customer rating (Ratings_out_of_5) among restaurants of different restaurant types (</a:t>
            </a:r>
            <a:r>
              <a:rPr lang="en-US" sz="1800" b="0" spc="0" dirty="0" err="1">
                <a:solidFill>
                  <a:srgbClr val="FF0000"/>
                </a:solidFill>
              </a:rPr>
              <a:t>Restaurant_Type</a:t>
            </a:r>
            <a:r>
              <a:rPr lang="en-US" sz="1800" b="0" spc="0" dirty="0">
                <a:solidFill>
                  <a:srgbClr val="FF0000"/>
                </a:solidFill>
              </a:rPr>
              <a:t>) listed in the Zomato Pune dataset?</a:t>
            </a:r>
          </a:p>
          <a:p>
            <a:pPr>
              <a:spcAft>
                <a:spcPts val="0"/>
              </a:spcAft>
            </a:pPr>
            <a:endParaRPr lang="en-GB" sz="1800" b="0" spc="0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D431B-7665-75B0-2D73-5BD588DC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 7COM1079-2025  Student Group No:  A125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FA15-B17F-387B-E383-5505647A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/>
          <a:lstStyle/>
          <a:p>
            <a:r>
              <a:rPr lang="en-US"/>
              <a:t>3</a:t>
            </a:r>
            <a:endParaRPr lang="en-GB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CBB269B-EC9E-7257-87AF-4FC5C5091401}"/>
              </a:ext>
            </a:extLst>
          </p:cNvPr>
          <p:cNvSpPr txBox="1">
            <a:spLocks/>
          </p:cNvSpPr>
          <p:nvPr/>
        </p:nvSpPr>
        <p:spPr>
          <a:xfrm>
            <a:off x="965289" y="2699346"/>
            <a:ext cx="10640594" cy="224972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ts val="8000"/>
              </a:lnSpc>
              <a:spcBef>
                <a:spcPct val="0"/>
              </a:spcBef>
              <a:buNone/>
              <a:defRPr sz="7500" b="1" kern="30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b="0" spc="0" dirty="0">
                <a:solidFill>
                  <a:srgbClr val="FF0000"/>
                </a:solidFill>
              </a:rPr>
              <a:t>Null Hypothesis (H₀):</a:t>
            </a:r>
          </a:p>
          <a:p>
            <a:pPr>
              <a:lnSpc>
                <a:spcPct val="100000"/>
              </a:lnSpc>
            </a:pPr>
            <a:r>
              <a:rPr lang="en-US" sz="2000" b="0" spc="0" dirty="0"/>
              <a:t>There is no difference in the mean of customer ratings (Ratings_out_of_5) among different restaurant types (</a:t>
            </a:r>
            <a:r>
              <a:rPr lang="en-US" sz="2000" b="0" spc="0" dirty="0" err="1"/>
              <a:t>Restaurant_Type</a:t>
            </a:r>
            <a:r>
              <a:rPr lang="en-US" sz="2000" b="0" spc="0" dirty="0"/>
              <a:t>).</a:t>
            </a:r>
          </a:p>
          <a:p>
            <a:pPr>
              <a:lnSpc>
                <a:spcPct val="100000"/>
              </a:lnSpc>
            </a:pPr>
            <a:endParaRPr lang="en-US" sz="2000" b="0" spc="0" dirty="0"/>
          </a:p>
          <a:p>
            <a:pPr>
              <a:lnSpc>
                <a:spcPct val="100000"/>
              </a:lnSpc>
            </a:pPr>
            <a:r>
              <a:rPr lang="en-US" sz="2000" b="0" spc="0" dirty="0">
                <a:solidFill>
                  <a:srgbClr val="FF0000"/>
                </a:solidFill>
              </a:rPr>
              <a:t>Alternative Hypothesis (H₁):</a:t>
            </a:r>
          </a:p>
          <a:p>
            <a:pPr>
              <a:lnSpc>
                <a:spcPct val="100000"/>
              </a:lnSpc>
            </a:pPr>
            <a:r>
              <a:rPr lang="en-US" sz="2000" b="0" spc="0" dirty="0"/>
              <a:t>There is a difference in the mean of customer ratings (Ratings_out_of_5) among different restaurant types (</a:t>
            </a:r>
            <a:r>
              <a:rPr lang="en-US" sz="2000" b="0" spc="0" dirty="0" err="1"/>
              <a:t>Restaurant_Type</a:t>
            </a:r>
            <a:r>
              <a:rPr lang="en-US" sz="2000" b="0" spc="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2494612"/>
      </p:ext>
    </p:extLst>
  </p:cSld>
  <p:clrMapOvr>
    <a:masterClrMapping/>
  </p:clrMapOvr>
</p:sld>
</file>

<file path=ppt/theme/theme1.xml><?xml version="1.0" encoding="utf-8"?>
<a:theme xmlns:a="http://schemas.openxmlformats.org/drawingml/2006/main" name="Herts Theme">
  <a:themeElements>
    <a:clrScheme name="Custom 2">
      <a:dk1>
        <a:srgbClr val="203232"/>
      </a:dk1>
      <a:lt1>
        <a:srgbClr val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formation xmlns="4ad138b4-2b68-4b70-945d-07f8f18b1c9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DBA85F447B164191BB36C258697B67" ma:contentTypeVersion="14" ma:contentTypeDescription="Create a new document." ma:contentTypeScope="" ma:versionID="ea511d05ca7f895fe9556935b5c9af34">
  <xsd:schema xmlns:xsd="http://www.w3.org/2001/XMLSchema" xmlns:xs="http://www.w3.org/2001/XMLSchema" xmlns:p="http://schemas.microsoft.com/office/2006/metadata/properties" xmlns:ns2="4ad138b4-2b68-4b70-945d-07f8f18b1c9a" xmlns:ns3="3c474641-ec36-472f-b125-6b1b0910eaa4" targetNamespace="http://schemas.microsoft.com/office/2006/metadata/properties" ma:root="true" ma:fieldsID="662270106d7a7e100bcac2c5f8d29899" ns2:_="" ns3:_="">
    <xsd:import namespace="4ad138b4-2b68-4b70-945d-07f8f18b1c9a"/>
    <xsd:import namespace="3c474641-ec36-472f-b125-6b1b0910ea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Informa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d138b4-2b68-4b70-945d-07f8f18b1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Information" ma:index="12" nillable="true" ma:displayName="Information" ma:format="Dropdown" ma:internalName="Information">
      <xsd:simpleType>
        <xsd:restriction base="dms:Text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474641-ec36-472f-b125-6b1b0910eaa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D1FC41-23C7-41B0-B5F9-BF4CD38AD2ED}">
  <ds:schemaRefs>
    <ds:schemaRef ds:uri="3c474641-ec36-472f-b125-6b1b0910eaa4"/>
    <ds:schemaRef ds:uri="4ad138b4-2b68-4b70-945d-07f8f18b1c9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1C521DD-2673-4EE6-BB9B-DC5C3320FF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1B8C57-903D-4D0E-8336-7B512F760CD1}">
  <ds:schemaRefs>
    <ds:schemaRef ds:uri="3c474641-ec36-472f-b125-6b1b0910eaa4"/>
    <ds:schemaRef ds:uri="4ad138b4-2b68-4b70-945d-07f8f18b1c9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478</Words>
  <Application>Microsoft Office PowerPoint</Application>
  <PresentationFormat>Widescreen</PresentationFormat>
  <Paragraphs>43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Herts Theme</vt:lpstr>
      <vt:lpstr>Research Question –  Tutorial Presentation for Feedback Date: 17/11/2025</vt:lpstr>
      <vt:lpstr>PowerPoint Presentation</vt:lpstr>
      <vt:lpstr>This dataset is interesting to us because: It provides real restaurant information, allowing us to explore how different restaurant features relate to customer ratings.  Our  Independent variable is: Restaurant_Type This is the category of restaurant (e.g., Casual Dining, Café, Bar). This  Independent variable datatype is: Nominal  Our Dependent variable is: Ratings_out_of_5 This is the customer rating score given to each restaurant. This Dependent variable datatype is: Interval/measurement data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Joanne Harwood</dc:creator>
  <cp:lastModifiedBy>Nikith Mallapareddy</cp:lastModifiedBy>
  <cp:revision>123</cp:revision>
  <dcterms:created xsi:type="dcterms:W3CDTF">2019-10-01T08:37:56Z</dcterms:created>
  <dcterms:modified xsi:type="dcterms:W3CDTF">2025-12-05T12:09:45Z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0x01010026DBA85F447B164191BB36C258697B67</vt:lpwstr>
  </property>
</Properties>
</file>