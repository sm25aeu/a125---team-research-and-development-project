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89" r:id="rId5"/>
    <p:sldId id="329" r:id="rId6"/>
    <p:sldId id="336" r:id="rId7"/>
    <p:sldId id="340" r:id="rId8"/>
    <p:sldId id="351" r:id="rId9"/>
    <p:sldId id="352" r:id="rId10"/>
    <p:sldId id="342" r:id="rId11"/>
    <p:sldId id="260" r:id="rId12"/>
    <p:sldId id="262" r:id="rId13"/>
    <p:sldId id="353" r:id="rId14"/>
    <p:sldId id="355" r:id="rId15"/>
    <p:sldId id="35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8706E-1E55-4BE3-9981-9E9409FA3F0E}" v="1" dt="2025-11-17T15:37:03.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648" y="53"/>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jane Betrand" userId="S::mb13afy@herts.ac.uk::9d690930-63dc-4257-8532-dd49e7e9cf4d" providerId="AD" clId="Web-{0130B3CF-C872-458A-6D82-FB5B649CA2D1}"/>
    <pc:docChg chg="modSld">
      <pc:chgData name="Maryjane Betrand" userId="S::mb13afy@herts.ac.uk::9d690930-63dc-4257-8532-dd49e7e9cf4d" providerId="AD" clId="Web-{0130B3CF-C872-458A-6D82-FB5B649CA2D1}" dt="2025-11-07T13:24:07.473" v="2" actId="20577"/>
      <pc:docMkLst>
        <pc:docMk/>
      </pc:docMkLst>
      <pc:sldChg chg="modSp">
        <pc:chgData name="Maryjane Betrand" userId="S::mb13afy@herts.ac.uk::9d690930-63dc-4257-8532-dd49e7e9cf4d" providerId="AD" clId="Web-{0130B3CF-C872-458A-6D82-FB5B649CA2D1}" dt="2025-11-07T13:23:42.800" v="0" actId="20577"/>
        <pc:sldMkLst>
          <pc:docMk/>
          <pc:sldMk cId="4148532546" sldId="289"/>
        </pc:sldMkLst>
        <pc:spChg chg="mod">
          <ac:chgData name="Maryjane Betrand" userId="S::mb13afy@herts.ac.uk::9d690930-63dc-4257-8532-dd49e7e9cf4d" providerId="AD" clId="Web-{0130B3CF-C872-458A-6D82-FB5B649CA2D1}" dt="2025-11-07T13:23:42.800" v="0" actId="20577"/>
          <ac:spMkLst>
            <pc:docMk/>
            <pc:sldMk cId="4148532546" sldId="289"/>
            <ac:spMk id="4" creationId="{6E7F4D14-5620-EC41-A86C-6CC3CFD691B4}"/>
          </ac:spMkLst>
        </pc:spChg>
      </pc:sldChg>
      <pc:sldChg chg="modSp">
        <pc:chgData name="Maryjane Betrand" userId="S::mb13afy@herts.ac.uk::9d690930-63dc-4257-8532-dd49e7e9cf4d" providerId="AD" clId="Web-{0130B3CF-C872-458A-6D82-FB5B649CA2D1}" dt="2025-11-07T13:24:07.473" v="2" actId="20577"/>
        <pc:sldMkLst>
          <pc:docMk/>
          <pc:sldMk cId="1718004908" sldId="329"/>
        </pc:sldMkLst>
        <pc:spChg chg="mod">
          <ac:chgData name="Maryjane Betrand" userId="S::mb13afy@herts.ac.uk::9d690930-63dc-4257-8532-dd49e7e9cf4d" providerId="AD" clId="Web-{0130B3CF-C872-458A-6D82-FB5B649CA2D1}" dt="2025-11-07T13:24:07.473" v="2" actId="20577"/>
          <ac:spMkLst>
            <pc:docMk/>
            <pc:sldMk cId="1718004908" sldId="329"/>
            <ac:spMk id="3" creationId="{00EBC183-8AA5-EC44-9987-D65F5C1892A1}"/>
          </ac:spMkLst>
        </pc:spChg>
      </pc:sldChg>
    </pc:docChg>
  </pc:docChgLst>
  <pc:docChgLst>
    <pc:chgData name="Sarah Beecham" userId="3dff3769-a6f8-4999-99c7-104518196c07" providerId="ADAL" clId="{B053FDEB-A230-4C3D-AB28-1996D6638692}"/>
    <pc:docChg chg="custSel modSld">
      <pc:chgData name="Sarah Beecham" userId="3dff3769-a6f8-4999-99c7-104518196c07" providerId="ADAL" clId="{B053FDEB-A230-4C3D-AB28-1996D6638692}" dt="2025-11-17T15:38:57.719" v="259" actId="313"/>
      <pc:docMkLst>
        <pc:docMk/>
      </pc:docMkLst>
      <pc:sldChg chg="modSp mod">
        <pc:chgData name="Sarah Beecham" userId="3dff3769-a6f8-4999-99c7-104518196c07" providerId="ADAL" clId="{B053FDEB-A230-4C3D-AB28-1996D6638692}" dt="2025-11-17T15:37:08.359" v="196" actId="20577"/>
        <pc:sldMkLst>
          <pc:docMk/>
          <pc:sldMk cId="0" sldId="261"/>
        </pc:sldMkLst>
        <pc:spChg chg="mod">
          <ac:chgData name="Sarah Beecham" userId="3dff3769-a6f8-4999-99c7-104518196c07" providerId="ADAL" clId="{B053FDEB-A230-4C3D-AB28-1996D6638692}" dt="2025-11-17T15:37:08.359" v="196" actId="20577"/>
          <ac:spMkLst>
            <pc:docMk/>
            <pc:sldMk cId="0" sldId="261"/>
            <ac:spMk id="130" creationId="{00000000-0000-0000-0000-000000000000}"/>
          </ac:spMkLst>
        </pc:spChg>
      </pc:sldChg>
      <pc:sldChg chg="modSp mod">
        <pc:chgData name="Sarah Beecham" userId="3dff3769-a6f8-4999-99c7-104518196c07" providerId="ADAL" clId="{B053FDEB-A230-4C3D-AB28-1996D6638692}" dt="2025-11-17T15:38:57.719" v="259" actId="313"/>
        <pc:sldMkLst>
          <pc:docMk/>
          <pc:sldMk cId="0" sldId="262"/>
        </pc:sldMkLst>
        <pc:spChg chg="mod">
          <ac:chgData name="Sarah Beecham" userId="3dff3769-a6f8-4999-99c7-104518196c07" providerId="ADAL" clId="{B053FDEB-A230-4C3D-AB28-1996D6638692}" dt="2025-11-17T15:38:57.719" v="259" actId="313"/>
          <ac:spMkLst>
            <pc:docMk/>
            <pc:sldMk cId="0" sldId="262"/>
            <ac:spMk id="2" creationId="{58BC67A1-346D-734F-321E-2098D1481674}"/>
          </ac:spMkLst>
        </pc:spChg>
      </pc:sldChg>
      <pc:sldChg chg="modSp mod">
        <pc:chgData name="Sarah Beecham" userId="3dff3769-a6f8-4999-99c7-104518196c07" providerId="ADAL" clId="{B053FDEB-A230-4C3D-AB28-1996D6638692}" dt="2025-11-17T15:33:16.677" v="28" actId="20577"/>
        <pc:sldMkLst>
          <pc:docMk/>
          <pc:sldMk cId="32494612" sldId="336"/>
        </pc:sldMkLst>
        <pc:spChg chg="mod">
          <ac:chgData name="Sarah Beecham" userId="3dff3769-a6f8-4999-99c7-104518196c07" providerId="ADAL" clId="{B053FDEB-A230-4C3D-AB28-1996D6638692}" dt="2025-11-17T15:33:16.677" v="28" actId="20577"/>
          <ac:spMkLst>
            <pc:docMk/>
            <pc:sldMk cId="32494612" sldId="336"/>
            <ac:spMk id="7" creationId="{F7FEA660-7B39-BC91-3B96-7298CCF66DE1}"/>
          </ac:spMkLst>
        </pc:spChg>
      </pc:sldChg>
      <pc:sldChg chg="modSp mod">
        <pc:chgData name="Sarah Beecham" userId="3dff3769-a6f8-4999-99c7-104518196c07" providerId="ADAL" clId="{B053FDEB-A230-4C3D-AB28-1996D6638692}" dt="2025-11-17T15:35:36.933" v="159" actId="1076"/>
        <pc:sldMkLst>
          <pc:docMk/>
          <pc:sldMk cId="3608140810" sldId="339"/>
        </pc:sldMkLst>
        <pc:spChg chg="mod">
          <ac:chgData name="Sarah Beecham" userId="3dff3769-a6f8-4999-99c7-104518196c07" providerId="ADAL" clId="{B053FDEB-A230-4C3D-AB28-1996D6638692}" dt="2025-11-17T15:34:29.583" v="132" actId="20577"/>
          <ac:spMkLst>
            <pc:docMk/>
            <pc:sldMk cId="3608140810" sldId="339"/>
            <ac:spMk id="7" creationId="{F7FEA660-7B39-BC91-3B96-7298CCF66DE1}"/>
          </ac:spMkLst>
        </pc:spChg>
        <pc:spChg chg="mod">
          <ac:chgData name="Sarah Beecham" userId="3dff3769-a6f8-4999-99c7-104518196c07" providerId="ADAL" clId="{B053FDEB-A230-4C3D-AB28-1996D6638692}" dt="2025-11-17T15:35:36.933" v="159" actId="1076"/>
          <ac:spMkLst>
            <pc:docMk/>
            <pc:sldMk cId="3608140810" sldId="339"/>
            <ac:spMk id="8" creationId="{08296624-D625-8A51-63F8-EC461F283B3B}"/>
          </ac:spMkLst>
        </pc:spChg>
        <pc:spChg chg="mod">
          <ac:chgData name="Sarah Beecham" userId="3dff3769-a6f8-4999-99c7-104518196c07" providerId="ADAL" clId="{B053FDEB-A230-4C3D-AB28-1996D6638692}" dt="2025-11-17T15:35:29.123" v="158" actId="1076"/>
          <ac:spMkLst>
            <pc:docMk/>
            <pc:sldMk cId="3608140810" sldId="339"/>
            <ac:spMk id="12" creationId="{F41CBD45-A845-C335-489D-8BB5DDD408DD}"/>
          </ac:spMkLst>
        </pc:spChg>
      </pc:sldChg>
      <pc:sldChg chg="modSp mod">
        <pc:chgData name="Sarah Beecham" userId="3dff3769-a6f8-4999-99c7-104518196c07" providerId="ADAL" clId="{B053FDEB-A230-4C3D-AB28-1996D6638692}" dt="2025-11-17T15:32:31.739" v="8" actId="20577"/>
        <pc:sldMkLst>
          <pc:docMk/>
          <pc:sldMk cId="2723358785" sldId="340"/>
        </pc:sldMkLst>
        <pc:spChg chg="mod">
          <ac:chgData name="Sarah Beecham" userId="3dff3769-a6f8-4999-99c7-104518196c07" providerId="ADAL" clId="{B053FDEB-A230-4C3D-AB28-1996D6638692}" dt="2025-11-17T15:32:31.739" v="8" actId="20577"/>
          <ac:spMkLst>
            <pc:docMk/>
            <pc:sldMk cId="2723358785" sldId="340"/>
            <ac:spMk id="7" creationId="{F7FEA660-7B39-BC91-3B96-7298CCF66DE1}"/>
          </ac:spMkLst>
        </pc:spChg>
      </pc:sldChg>
      <pc:sldChg chg="modSp mod">
        <pc:chgData name="Sarah Beecham" userId="3dff3769-a6f8-4999-99c7-104518196c07" providerId="ADAL" clId="{B053FDEB-A230-4C3D-AB28-1996D6638692}" dt="2025-11-17T15:31:40.436" v="1" actId="20577"/>
        <pc:sldMkLst>
          <pc:docMk/>
          <pc:sldMk cId="2339144795" sldId="341"/>
        </pc:sldMkLst>
        <pc:spChg chg="mod">
          <ac:chgData name="Sarah Beecham" userId="3dff3769-a6f8-4999-99c7-104518196c07" providerId="ADAL" clId="{B053FDEB-A230-4C3D-AB28-1996D6638692}" dt="2025-11-17T15:31:40.436" v="1" actId="20577"/>
          <ac:spMkLst>
            <pc:docMk/>
            <pc:sldMk cId="2339144795" sldId="341"/>
            <ac:spMk id="5" creationId="{A5F0AC96-5BAE-FDAC-4EAC-17779A2B06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3T12:25:27.524"/>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3934570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685800" y="1143000"/>
            <a:ext cx="5486400" cy="3086100"/>
          </a:xfrm>
          <a:prstGeom prst="rect">
            <a:avLst/>
          </a:prstGeom>
        </p:spPr>
      </p:sp>
      <p:sp>
        <p:nvSpPr>
          <p:cNvPr id="143"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44"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F2152A03-473D-4693-94B3-2C4A26E4B7E1}" type="slidenum">
              <a:rPr lang="en-GB" sz="1200" b="0" strike="noStrike" spc="-1">
                <a:latin typeface="Times New Roman"/>
              </a:rPr>
              <a:t>8</a:t>
            </a:fld>
            <a:endParaRPr lang="en-US"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685800" y="1143000"/>
            <a:ext cx="5486400" cy="3086100"/>
          </a:xfrm>
          <a:prstGeom prst="rect">
            <a:avLst/>
          </a:prstGeom>
        </p:spPr>
      </p:sp>
      <p:sp>
        <p:nvSpPr>
          <p:cNvPr id="149"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9</a:t>
            </a:fld>
            <a:endParaRPr lang="en-US" sz="1200" b="0" strike="noStrike" spc="-1">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6525-B666-49A9-E74D-569DCAFF20D0}"/>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EAD0ED23-6913-5B5E-AC0E-4840FC52D375}"/>
              </a:ext>
            </a:extLst>
          </p:cNvPr>
          <p:cNvSpPr>
            <a:spLocks noGrp="1" noRot="1" noChangeAspect="1"/>
          </p:cNvSpPr>
          <p:nvPr>
            <p:ph type="sldImg"/>
          </p:nvPr>
        </p:nvSpPr>
        <p:spPr>
          <a:xfrm>
            <a:off x="685800" y="1143000"/>
            <a:ext cx="5486400" cy="3086100"/>
          </a:xfrm>
          <a:prstGeom prst="rect">
            <a:avLst/>
          </a:prstGeom>
        </p:spPr>
      </p:sp>
      <p:sp>
        <p:nvSpPr>
          <p:cNvPr id="149" name="PlaceHolder 2">
            <a:extLst>
              <a:ext uri="{FF2B5EF4-FFF2-40B4-BE49-F238E27FC236}">
                <a16:creationId xmlns:a16="http://schemas.microsoft.com/office/drawing/2014/main" id="{F4C5FAFD-1C35-8E5E-E814-6FF0B743BC5E}"/>
              </a:ext>
            </a:extLst>
          </p:cNvPr>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a:extLst>
              <a:ext uri="{FF2B5EF4-FFF2-40B4-BE49-F238E27FC236}">
                <a16:creationId xmlns:a16="http://schemas.microsoft.com/office/drawing/2014/main" id="{41C91A7F-7DAE-6E1D-AB1D-E05AC1791D7A}"/>
              </a:ext>
            </a:extLst>
          </p:cNvPr>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10</a:t>
            </a:fld>
            <a:endParaRPr lang="en-US" sz="1200" b="0" strike="noStrike" spc="-1">
              <a:latin typeface="Times New Roman"/>
            </a:endParaRPr>
          </a:p>
        </p:txBody>
      </p:sp>
    </p:spTree>
    <p:extLst>
      <p:ext uri="{BB962C8B-B14F-4D97-AF65-F5344CB8AC3E}">
        <p14:creationId xmlns:p14="http://schemas.microsoft.com/office/powerpoint/2010/main" val="2035170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9940-329F-0B33-ABD6-A25F9D48D2F6}"/>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A388FBBE-5A3B-2944-3FE9-16AD1C19797E}"/>
              </a:ext>
            </a:extLst>
          </p:cNvPr>
          <p:cNvSpPr>
            <a:spLocks noGrp="1" noRot="1" noChangeAspect="1"/>
          </p:cNvSpPr>
          <p:nvPr>
            <p:ph type="sldImg"/>
          </p:nvPr>
        </p:nvSpPr>
        <p:spPr>
          <a:xfrm>
            <a:off x="685800" y="1143000"/>
            <a:ext cx="5486400" cy="3086100"/>
          </a:xfrm>
          <a:prstGeom prst="rect">
            <a:avLst/>
          </a:prstGeom>
        </p:spPr>
      </p:sp>
      <p:sp>
        <p:nvSpPr>
          <p:cNvPr id="149" name="PlaceHolder 2">
            <a:extLst>
              <a:ext uri="{FF2B5EF4-FFF2-40B4-BE49-F238E27FC236}">
                <a16:creationId xmlns:a16="http://schemas.microsoft.com/office/drawing/2014/main" id="{4A2B0C70-1D05-A77F-3886-D26FBC0ABCC9}"/>
              </a:ext>
            </a:extLst>
          </p:cNvPr>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a:extLst>
              <a:ext uri="{FF2B5EF4-FFF2-40B4-BE49-F238E27FC236}">
                <a16:creationId xmlns:a16="http://schemas.microsoft.com/office/drawing/2014/main" id="{4851CA7A-0094-5561-F443-CFDE9BA4D05A}"/>
              </a:ext>
            </a:extLst>
          </p:cNvPr>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11</a:t>
            </a:fld>
            <a:endParaRPr lang="en-US" sz="1200" b="0" strike="noStrike" spc="-1">
              <a:latin typeface="Times New Roman"/>
            </a:endParaRPr>
          </a:p>
        </p:txBody>
      </p:sp>
    </p:spTree>
    <p:extLst>
      <p:ext uri="{BB962C8B-B14F-4D97-AF65-F5344CB8AC3E}">
        <p14:creationId xmlns:p14="http://schemas.microsoft.com/office/powerpoint/2010/main" val="3520812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0C479-C3E0-4A07-6221-E9D17A386883}"/>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74359B06-5C14-1796-1643-B72EE06BB8FD}"/>
              </a:ext>
            </a:extLst>
          </p:cNvPr>
          <p:cNvSpPr>
            <a:spLocks noGrp="1" noRot="1" noChangeAspect="1"/>
          </p:cNvSpPr>
          <p:nvPr>
            <p:ph type="sldImg"/>
          </p:nvPr>
        </p:nvSpPr>
        <p:spPr>
          <a:xfrm>
            <a:off x="685800" y="1143000"/>
            <a:ext cx="5486400" cy="3086100"/>
          </a:xfrm>
          <a:prstGeom prst="rect">
            <a:avLst/>
          </a:prstGeom>
        </p:spPr>
      </p:sp>
      <p:sp>
        <p:nvSpPr>
          <p:cNvPr id="149" name="PlaceHolder 2">
            <a:extLst>
              <a:ext uri="{FF2B5EF4-FFF2-40B4-BE49-F238E27FC236}">
                <a16:creationId xmlns:a16="http://schemas.microsoft.com/office/drawing/2014/main" id="{94E661E4-CA0D-7C2B-1EC0-949788A11D4E}"/>
              </a:ext>
            </a:extLst>
          </p:cNvPr>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a:extLst>
              <a:ext uri="{FF2B5EF4-FFF2-40B4-BE49-F238E27FC236}">
                <a16:creationId xmlns:a16="http://schemas.microsoft.com/office/drawing/2014/main" id="{AF7E622F-18F4-03CE-2C46-EF6906D2B140}"/>
              </a:ext>
            </a:extLst>
          </p:cNvPr>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12</a:t>
            </a:fld>
            <a:endParaRPr lang="en-US" sz="1200" b="0" strike="noStrike" spc="-1">
              <a:latin typeface="Times New Roman"/>
            </a:endParaRPr>
          </a:p>
        </p:txBody>
      </p:sp>
    </p:spTree>
    <p:extLst>
      <p:ext uri="{BB962C8B-B14F-4D97-AF65-F5344CB8AC3E}">
        <p14:creationId xmlns:p14="http://schemas.microsoft.com/office/powerpoint/2010/main" val="14768329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0370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 id="2147483724" r:id="rId14"/>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a:xfrm>
            <a:off x="953998" y="2413461"/>
            <a:ext cx="10031157" cy="3072940"/>
          </a:xfrm>
        </p:spPr>
        <p:txBody>
          <a:bodyPr>
            <a:normAutofit fontScale="90000"/>
          </a:bodyPr>
          <a:lstStyle/>
          <a:p>
            <a:r>
              <a:rPr lang="en-US" spc="0" dirty="0"/>
              <a:t>Visualization and Analysis – </a:t>
            </a:r>
            <a:br>
              <a:rPr lang="en-US" spc="0" dirty="0"/>
            </a:br>
            <a:r>
              <a:rPr lang="en-US" sz="4000" spc="0" dirty="0"/>
              <a:t>Tutorial Presentation for Feedback</a:t>
            </a:r>
            <a:br>
              <a:rPr lang="en-US" sz="4000" spc="0" dirty="0"/>
            </a:br>
            <a:r>
              <a:rPr lang="en-US" sz="2200" spc="0" dirty="0"/>
              <a:t>Date: </a:t>
            </a:r>
            <a:br>
              <a:rPr lang="en-US" sz="8000" spc="0" dirty="0"/>
            </a:br>
            <a:endParaRPr lang="en-US" spc="0"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spc="0" dirty="0"/>
              <a:t>Group Id:   A125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A125                  Names of Student Attendees:	Mallapareddy Sai Nikith</a:t>
            </a:r>
          </a:p>
          <a:p>
            <a:r>
              <a:rPr lang="en-GB" dirty="0"/>
              <a:t>								</a:t>
            </a:r>
            <a:r>
              <a:rPr lang="en-GB" dirty="0" err="1"/>
              <a:t>Nadavaluru</a:t>
            </a:r>
            <a:r>
              <a:rPr lang="en-GB" dirty="0"/>
              <a:t> </a:t>
            </a:r>
            <a:r>
              <a:rPr lang="en-GB" dirty="0" err="1"/>
              <a:t>Gnanandar</a:t>
            </a:r>
            <a:r>
              <a:rPr lang="en-GB" dirty="0"/>
              <a:t> Reddy</a:t>
            </a:r>
          </a:p>
          <a:p>
            <a:r>
              <a:rPr lang="en-GB" dirty="0"/>
              <a:t>								</a:t>
            </a:r>
            <a:r>
              <a:rPr lang="en-GB" dirty="0" err="1"/>
              <a:t>Narravula</a:t>
            </a:r>
            <a:r>
              <a:rPr lang="en-GB" dirty="0"/>
              <a:t> Siva Lahari</a:t>
            </a:r>
          </a:p>
          <a:p>
            <a:r>
              <a:rPr lang="en-GB" dirty="0"/>
              <a:t>								Koduri Shivani</a:t>
            </a:r>
          </a:p>
          <a:p>
            <a:r>
              <a:rPr lang="en-GB" dirty="0"/>
              <a:t>								Dandu Sravanthi</a:t>
            </a:r>
          </a:p>
          <a:p>
            <a:endParaRPr lang="en-GB" dirty="0"/>
          </a:p>
        </p:txBody>
      </p:sp>
      <p:sp>
        <p:nvSpPr>
          <p:cNvPr id="5" name="Slide Number Placeholder 4">
            <a:extLst>
              <a:ext uri="{FF2B5EF4-FFF2-40B4-BE49-F238E27FC236}">
                <a16:creationId xmlns:a16="http://schemas.microsoft.com/office/drawing/2014/main" id="{6B584311-58F1-BD4D-8FED-50D72C3DED34}"/>
              </a:ext>
            </a:extLst>
          </p:cNvPr>
          <p:cNvSpPr>
            <a:spLocks noGrp="1"/>
          </p:cNvSpPr>
          <p:nvPr>
            <p:ph type="sldNum" sz="quarter" idx="12"/>
          </p:nvPr>
        </p:nvSpPr>
        <p:spPr/>
        <p:txBody>
          <a:bodyPr/>
          <a:lstStyle/>
          <a:p>
            <a:fld id="{E4D355CA-84B7-41B1-B164-8BB439CC7C6B}" type="slidenum">
              <a:rPr lang="en-GB" smtClean="0"/>
              <a:pPr/>
              <a:t>1</a:t>
            </a:fld>
            <a:endParaRPr lang="en-GB"/>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817920" y="1316658"/>
            <a:ext cx="10537264" cy="412389"/>
          </a:xfrm>
        </p:spPr>
        <p:txBody>
          <a:bodyPr/>
          <a:lstStyle/>
          <a:p>
            <a:r>
              <a:rPr lang="en-US" sz="2000" b="0" spc="0" dirty="0">
                <a:latin typeface="Calibri" panose="020F0502020204030204" pitchFamily="34" charset="0"/>
                <a:cs typeface="Calibri" panose="020F0502020204030204" pitchFamily="34" charset="0"/>
              </a:rPr>
              <a:t>We are using the dataset</a:t>
            </a:r>
            <a:r>
              <a:rPr lang="en-US" sz="2000" b="0" spc="0" dirty="0">
                <a:solidFill>
                  <a:srgbClr val="FF0000"/>
                </a:solidFill>
                <a:latin typeface="Calibri" panose="020F0502020204030204" pitchFamily="34" charset="0"/>
                <a:cs typeface="Calibri" panose="020F0502020204030204" pitchFamily="34" charset="0"/>
              </a:rPr>
              <a:t> </a:t>
            </a:r>
            <a:r>
              <a:rPr lang="en-US" sz="2000" b="0" spc="0" dirty="0">
                <a:solidFill>
                  <a:srgbClr val="FF0000"/>
                </a:solidFill>
              </a:rPr>
              <a:t>ds236 </a:t>
            </a:r>
            <a:r>
              <a:rPr lang="en-IN" sz="2000" b="0" spc="0" dirty="0" err="1">
                <a:solidFill>
                  <a:srgbClr val="FF0000"/>
                </a:solidFill>
              </a:rPr>
              <a:t>Zomato_Pune</a:t>
            </a:r>
            <a:endParaRPr lang="en-IN" sz="2000" b="0" spc="0" dirty="0">
              <a:solidFill>
                <a:srgbClr val="FF0000"/>
              </a:solidFill>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A125</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p:txBody>
          <a:bodyPr/>
          <a:lstStyle/>
          <a:p>
            <a:fld id="{E4D355CA-84B7-41B1-B164-8BB439CC7C6B}" type="slidenum">
              <a:rPr lang="en-GB" smtClean="0"/>
              <a:pPr/>
              <a:t>2</a:t>
            </a:fld>
            <a:endParaRPr lang="en-GB"/>
          </a:p>
        </p:txBody>
      </p:sp>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F4A00DAC-98CC-1D9A-E4A4-B99AD3FBA824}"/>
                  </a:ext>
                </a:extLst>
              </p14:cNvPr>
              <p14:cNvContentPartPr/>
              <p14:nvPr/>
            </p14:nvContentPartPr>
            <p14:xfrm>
              <a:off x="11548041" y="2705494"/>
              <a:ext cx="360" cy="360"/>
            </p14:xfrm>
          </p:contentPart>
        </mc:Choice>
        <mc:Fallback xmlns="">
          <p:pic>
            <p:nvPicPr>
              <p:cNvPr id="26" name="Ink 25">
                <a:extLst>
                  <a:ext uri="{FF2B5EF4-FFF2-40B4-BE49-F238E27FC236}">
                    <a16:creationId xmlns:a16="http://schemas.microsoft.com/office/drawing/2014/main" id="{F4A00DAC-98CC-1D9A-E4A4-B99AD3FBA824}"/>
                  </a:ext>
                </a:extLst>
              </p:cNvPr>
              <p:cNvPicPr/>
              <p:nvPr/>
            </p:nvPicPr>
            <p:blipFill>
              <a:blip r:embed="rId4"/>
              <a:stretch>
                <a:fillRect/>
              </a:stretch>
            </p:blipFill>
            <p:spPr>
              <a:xfrm>
                <a:off x="11530041" y="2687494"/>
                <a:ext cx="36000" cy="36000"/>
              </a:xfrm>
              <a:prstGeom prst="rect">
                <a:avLst/>
              </a:prstGeom>
            </p:spPr>
          </p:pic>
        </mc:Fallback>
      </mc:AlternateContent>
      <p:sp>
        <p:nvSpPr>
          <p:cNvPr id="5" name="Title 4">
            <a:extLst>
              <a:ext uri="{FF2B5EF4-FFF2-40B4-BE49-F238E27FC236}">
                <a16:creationId xmlns:a16="http://schemas.microsoft.com/office/drawing/2014/main" id="{70FABB86-0A68-AE0F-DC4B-A0026480F9F7}"/>
              </a:ext>
            </a:extLst>
          </p:cNvPr>
          <p:cNvSpPr>
            <a:spLocks noGrp="1"/>
          </p:cNvSpPr>
          <p:nvPr>
            <p:ph type="ctrTitle"/>
          </p:nvPr>
        </p:nvSpPr>
        <p:spPr>
          <a:xfrm>
            <a:off x="817920" y="2023851"/>
            <a:ext cx="7045561" cy="3392169"/>
          </a:xfrm>
        </p:spPr>
        <p:txBody>
          <a:bodyPr>
            <a:noAutofit/>
          </a:bodyPr>
          <a:lstStyle/>
          <a:p>
            <a:pPr>
              <a:lnSpc>
                <a:spcPct val="100000"/>
              </a:lnSpc>
            </a:pPr>
            <a:r>
              <a:rPr lang="en-US" sz="1600" b="0" spc="0" dirty="0">
                <a:latin typeface="+mn-lt"/>
                <a:cs typeface="Calibri"/>
              </a:rPr>
              <a:t>This dataset is interesting to us because:</a:t>
            </a:r>
            <a:br>
              <a:rPr lang="en-US" sz="1600" b="0" spc="0" dirty="0">
                <a:solidFill>
                  <a:srgbClr val="FF0000"/>
                </a:solidFill>
                <a:latin typeface="+mn-lt"/>
                <a:cs typeface="Calibri"/>
              </a:rPr>
            </a:br>
            <a:r>
              <a:rPr lang="en-US" sz="1600" b="0" spc="0" dirty="0">
                <a:solidFill>
                  <a:srgbClr val="FF0000"/>
                </a:solidFill>
                <a:latin typeface="+mn-lt"/>
              </a:rPr>
              <a:t>It provides real restaurant information, allowing us to explore how different restaurant features relate to customer ratings.</a:t>
            </a:r>
            <a:br>
              <a:rPr lang="en-US" sz="1600" b="0" spc="0" dirty="0">
                <a:latin typeface="+mn-lt"/>
                <a:cs typeface="Calibri" panose="020F0502020204030204" pitchFamily="34" charset="0"/>
              </a:rPr>
            </a:br>
            <a:br>
              <a:rPr lang="en-US" sz="1600" b="0" spc="0" dirty="0">
                <a:latin typeface="+mn-lt"/>
                <a:cs typeface="Calibri" panose="020F0502020204030204" pitchFamily="34" charset="0"/>
              </a:rPr>
            </a:br>
            <a:r>
              <a:rPr lang="en-US" sz="1600" b="0" spc="0" dirty="0">
                <a:latin typeface="+mn-lt"/>
                <a:cs typeface="Calibri"/>
              </a:rPr>
              <a:t>Our  </a:t>
            </a:r>
            <a:r>
              <a:rPr lang="en-US" sz="1600" spc="0" dirty="0">
                <a:latin typeface="+mn-lt"/>
                <a:cs typeface="Calibri"/>
              </a:rPr>
              <a:t>Independent variable </a:t>
            </a:r>
            <a:r>
              <a:rPr lang="en-US" sz="1600" b="0" spc="0" dirty="0">
                <a:latin typeface="+mn-lt"/>
                <a:cs typeface="Calibri"/>
              </a:rPr>
              <a:t>is: </a:t>
            </a:r>
            <a:r>
              <a:rPr lang="en-IN" sz="1600" b="0" spc="0" dirty="0" err="1">
                <a:solidFill>
                  <a:srgbClr val="FF0000"/>
                </a:solidFill>
                <a:latin typeface="+mn-lt"/>
              </a:rPr>
              <a:t>Restaurant_Type</a:t>
            </a:r>
            <a:br>
              <a:rPr lang="en-IN" sz="1600" b="0" spc="0" dirty="0">
                <a:latin typeface="+mn-lt"/>
              </a:rPr>
            </a:br>
            <a:r>
              <a:rPr lang="en-US" sz="1600" b="0" spc="0" dirty="0">
                <a:latin typeface="+mn-lt"/>
              </a:rPr>
              <a:t>This is the category of restaurant (e.g., Casual Dining, Café, Bar).</a:t>
            </a:r>
            <a:br>
              <a:rPr lang="en-US" sz="1600" b="0" spc="0" dirty="0">
                <a:solidFill>
                  <a:srgbClr val="FF0000"/>
                </a:solidFill>
                <a:latin typeface="+mn-lt"/>
                <a:cs typeface="Calibri" panose="020F0502020204030204" pitchFamily="34" charset="0"/>
              </a:rPr>
            </a:br>
            <a:r>
              <a:rPr lang="en-US" sz="1600" b="0" spc="0" dirty="0">
                <a:latin typeface="+mn-lt"/>
                <a:cs typeface="Calibri"/>
              </a:rPr>
              <a:t>This  Independent variable datatype is: </a:t>
            </a:r>
            <a:r>
              <a:rPr lang="en-US" sz="1600" b="0" spc="0" dirty="0">
                <a:solidFill>
                  <a:srgbClr val="FF0000"/>
                </a:solidFill>
                <a:latin typeface="+mn-lt"/>
                <a:cs typeface="Calibri"/>
              </a:rPr>
              <a:t>Nominal</a:t>
            </a:r>
            <a:br>
              <a:rPr lang="en-US" sz="1600" b="0" spc="0" dirty="0">
                <a:solidFill>
                  <a:srgbClr val="FF0000"/>
                </a:solidFill>
                <a:latin typeface="+mn-lt"/>
                <a:cs typeface="Calibri"/>
              </a:rPr>
            </a:br>
            <a:br>
              <a:rPr lang="en-US" sz="1600" b="0" spc="0" dirty="0">
                <a:latin typeface="+mn-lt"/>
                <a:cs typeface="Calibri" panose="020F0502020204030204" pitchFamily="34" charset="0"/>
              </a:rPr>
            </a:br>
            <a:r>
              <a:rPr lang="en-US" sz="1600" b="0" spc="0" dirty="0">
                <a:latin typeface="+mn-lt"/>
                <a:cs typeface="Calibri"/>
              </a:rPr>
              <a:t>Our </a:t>
            </a:r>
            <a:r>
              <a:rPr lang="en-US" sz="1600" spc="0" dirty="0">
                <a:latin typeface="+mn-lt"/>
                <a:cs typeface="Calibri"/>
              </a:rPr>
              <a:t>Dependent variable </a:t>
            </a:r>
            <a:r>
              <a:rPr lang="en-US" sz="1600" b="0" spc="0" dirty="0">
                <a:latin typeface="+mn-lt"/>
                <a:cs typeface="Calibri"/>
              </a:rPr>
              <a:t>is: </a:t>
            </a:r>
            <a:r>
              <a:rPr lang="en-US" sz="1600" b="0" spc="0" dirty="0">
                <a:solidFill>
                  <a:srgbClr val="FF0000"/>
                </a:solidFill>
                <a:latin typeface="+mn-lt"/>
              </a:rPr>
              <a:t>Ratings_out_of_5</a:t>
            </a:r>
            <a:br>
              <a:rPr lang="en-US" sz="1600" b="0" spc="0" dirty="0">
                <a:latin typeface="+mn-lt"/>
              </a:rPr>
            </a:br>
            <a:r>
              <a:rPr lang="en-US" sz="1600" b="0" spc="0" dirty="0">
                <a:latin typeface="+mn-lt"/>
              </a:rPr>
              <a:t>This is the customer rating score given to each restaurant.</a:t>
            </a:r>
            <a:br>
              <a:rPr lang="en-US" sz="1600" b="0" spc="0" dirty="0">
                <a:latin typeface="+mn-lt"/>
                <a:cs typeface="Calibri" panose="020F0502020204030204" pitchFamily="34" charset="0"/>
              </a:rPr>
            </a:br>
            <a:r>
              <a:rPr lang="en-US" sz="1600" b="0" spc="0" dirty="0">
                <a:latin typeface="+mn-lt"/>
                <a:cs typeface="Calibri"/>
              </a:rPr>
              <a:t>This Dependent variable datatype is: </a:t>
            </a:r>
            <a:r>
              <a:rPr lang="en-US" sz="1600" b="0" spc="0" dirty="0">
                <a:solidFill>
                  <a:srgbClr val="FF0000"/>
                </a:solidFill>
                <a:latin typeface="+mn-lt"/>
                <a:cs typeface="Calibri"/>
              </a:rPr>
              <a:t>Interval/measurement data</a:t>
            </a:r>
          </a:p>
        </p:txBody>
      </p:sp>
      <p:sp>
        <p:nvSpPr>
          <p:cNvPr id="6" name="TextBox 5">
            <a:extLst>
              <a:ext uri="{FF2B5EF4-FFF2-40B4-BE49-F238E27FC236}">
                <a16:creationId xmlns:a16="http://schemas.microsoft.com/office/drawing/2014/main" id="{302756A1-2BD0-9EDF-EC61-CC43685B996E}"/>
              </a:ext>
            </a:extLst>
          </p:cNvPr>
          <p:cNvSpPr txBox="1"/>
          <p:nvPr/>
        </p:nvSpPr>
        <p:spPr>
          <a:xfrm>
            <a:off x="6426037" y="4787494"/>
            <a:ext cx="5536783" cy="1846659"/>
          </a:xfrm>
          <a:prstGeom prst="rect">
            <a:avLst/>
          </a:prstGeom>
          <a:noFill/>
        </p:spPr>
        <p:txBody>
          <a:bodyPr wrap="square" rtlCol="0">
            <a:spAutoFit/>
          </a:bodyPr>
          <a:lstStyle/>
          <a:p>
            <a:pPr latinLnBrk="1"/>
            <a:r>
              <a:rPr lang="en-IN" sz="1600" dirty="0">
                <a:solidFill>
                  <a:srgbClr val="FF0000"/>
                </a:solidFill>
              </a:rPr>
              <a:t>	</a:t>
            </a:r>
            <a:r>
              <a:rPr lang="en-IN" sz="1600" dirty="0" err="1">
                <a:solidFill>
                  <a:srgbClr val="FF0000"/>
                </a:solidFill>
              </a:rPr>
              <a:t>Restaurant_Name</a:t>
            </a:r>
            <a:r>
              <a:rPr lang="en-IN" sz="1600" dirty="0">
                <a:solidFill>
                  <a:srgbClr val="FF0000"/>
                </a:solidFill>
              </a:rPr>
              <a:t>           	Ratings_out_of_5</a:t>
            </a:r>
          </a:p>
          <a:p>
            <a:pPr latinLnBrk="1"/>
            <a:r>
              <a:rPr lang="en-IN" sz="1600" dirty="0">
                <a:solidFill>
                  <a:srgbClr val="FF0000"/>
                </a:solidFill>
              </a:rPr>
              <a:t>  		</a:t>
            </a:r>
            <a:r>
              <a:rPr lang="en-IN" sz="1600" i="1" dirty="0">
                <a:solidFill>
                  <a:srgbClr val="FF0000"/>
                </a:solidFill>
              </a:rPr>
              <a:t>&lt;chr&gt;</a:t>
            </a:r>
            <a:r>
              <a:rPr lang="en-IN" sz="1600" dirty="0">
                <a:solidFill>
                  <a:srgbClr val="FF0000"/>
                </a:solidFill>
              </a:rPr>
              <a:t>                    	</a:t>
            </a:r>
            <a:r>
              <a:rPr lang="en-IN" sz="1600" i="1" dirty="0">
                <a:solidFill>
                  <a:srgbClr val="FF0000"/>
                </a:solidFill>
              </a:rPr>
              <a:t>&lt;chr&gt;</a:t>
            </a:r>
            <a:r>
              <a:rPr lang="en-IN" sz="1600" dirty="0">
                <a:solidFill>
                  <a:srgbClr val="FF0000"/>
                </a:solidFill>
              </a:rPr>
              <a:t>           </a:t>
            </a:r>
          </a:p>
          <a:p>
            <a:pPr latinLnBrk="1"/>
            <a:r>
              <a:rPr lang="en-IN" sz="1600" dirty="0">
                <a:solidFill>
                  <a:srgbClr val="FF0000"/>
                </a:solidFill>
              </a:rPr>
              <a:t>1 	AB's - Absolute Barbecues 	4.9             </a:t>
            </a:r>
          </a:p>
          <a:p>
            <a:pPr latinLnBrk="1"/>
            <a:r>
              <a:rPr lang="en-IN" sz="1600" dirty="0">
                <a:solidFill>
                  <a:srgbClr val="FF0000"/>
                </a:solidFill>
              </a:rPr>
              <a:t>2 	Cafe Co2 Resto Lounge     	4.6             </a:t>
            </a:r>
          </a:p>
          <a:p>
            <a:pPr latinLnBrk="1"/>
            <a:r>
              <a:rPr lang="en-IN" sz="1600" dirty="0">
                <a:solidFill>
                  <a:srgbClr val="FF0000"/>
                </a:solidFill>
              </a:rPr>
              <a:t>3 	</a:t>
            </a:r>
            <a:r>
              <a:rPr lang="en-IN" sz="1600" dirty="0" err="1">
                <a:solidFill>
                  <a:srgbClr val="FF0000"/>
                </a:solidFill>
              </a:rPr>
              <a:t>Paasha</a:t>
            </a:r>
            <a:r>
              <a:rPr lang="en-IN" sz="1600" dirty="0">
                <a:solidFill>
                  <a:srgbClr val="FF0000"/>
                </a:solidFill>
              </a:rPr>
              <a:t> - JW Marriott Pune 	4.6             </a:t>
            </a:r>
          </a:p>
          <a:p>
            <a:pPr latinLnBrk="1"/>
            <a:r>
              <a:rPr lang="en-IN" sz="1600" dirty="0">
                <a:solidFill>
                  <a:srgbClr val="FF0000"/>
                </a:solidFill>
              </a:rPr>
              <a:t>4 	I Amsterdam               	4.3             </a:t>
            </a:r>
          </a:p>
          <a:p>
            <a:pPr latinLnBrk="1"/>
            <a:r>
              <a:rPr lang="en-IN" sz="1600" dirty="0">
                <a:solidFill>
                  <a:srgbClr val="FF0000"/>
                </a:solidFill>
              </a:rPr>
              <a:t>5 	FC Road Social            	4.5  </a:t>
            </a:r>
          </a:p>
        </p:txBody>
      </p:sp>
    </p:spTree>
    <p:extLst>
      <p:ext uri="{BB962C8B-B14F-4D97-AF65-F5344CB8AC3E}">
        <p14:creationId xmlns:p14="http://schemas.microsoft.com/office/powerpoint/2010/main" val="1718004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 - </a:t>
            </a:r>
            <a:r>
              <a:rPr lang="en-US" sz="1800" b="0" spc="0" dirty="0">
                <a:solidFill>
                  <a:srgbClr val="FF0000"/>
                </a:solidFill>
              </a:rPr>
              <a:t>Is there a difference in the average customer rating (Ratings_out_of_5) among restaurants of different restaurant types (</a:t>
            </a:r>
            <a:r>
              <a:rPr lang="en-US" sz="1800" b="0" spc="0" dirty="0" err="1">
                <a:solidFill>
                  <a:srgbClr val="FF0000"/>
                </a:solidFill>
              </a:rPr>
              <a:t>Restaurant_Type</a:t>
            </a:r>
            <a:r>
              <a:rPr lang="en-US" sz="1800" b="0" spc="0" dirty="0">
                <a:solidFill>
                  <a:srgbClr val="FF0000"/>
                </a:solidFill>
              </a:rPr>
              <a:t>) listed in the Zomato Pune dataset?</a:t>
            </a:r>
          </a:p>
          <a:p>
            <a:pPr>
              <a:spcAft>
                <a:spcPts val="0"/>
              </a:spcAft>
            </a:pPr>
            <a:endParaRPr lang="en-GB" sz="1800" b="0" spc="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A125</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6" name="Title 4">
            <a:extLst>
              <a:ext uri="{FF2B5EF4-FFF2-40B4-BE49-F238E27FC236}">
                <a16:creationId xmlns:a16="http://schemas.microsoft.com/office/drawing/2014/main" id="{0CBB269B-EC9E-7257-87AF-4FC5C5091401}"/>
              </a:ext>
            </a:extLst>
          </p:cNvPr>
          <p:cNvSpPr txBox="1">
            <a:spLocks/>
          </p:cNvSpPr>
          <p:nvPr/>
        </p:nvSpPr>
        <p:spPr>
          <a:xfrm>
            <a:off x="965289" y="2699346"/>
            <a:ext cx="10640594" cy="2249727"/>
          </a:xfrm>
          <a:prstGeom prst="rect">
            <a:avLst/>
          </a:prstGeom>
        </p:spPr>
        <p:txBody>
          <a:bodyPr vert="horz" lIns="0" tIns="0" rIns="0" bIns="0" rtlCol="0" anchor="ctr" anchorCtr="0">
            <a:noAutofit/>
          </a:bodyPr>
          <a:lstStyle>
            <a:lvl1pPr algn="l" defTabSz="914400" rtl="0" eaLnBrk="1" latinLnBrk="0" hangingPunct="1">
              <a:lnSpc>
                <a:spcPts val="8000"/>
              </a:lnSpc>
              <a:spcBef>
                <a:spcPct val="0"/>
              </a:spcBef>
              <a:buNone/>
              <a:defRPr sz="7500" b="1" kern="3000" spc="-200" baseline="0">
                <a:solidFill>
                  <a:schemeClr val="tx1"/>
                </a:solidFill>
                <a:latin typeface="+mj-lt"/>
                <a:ea typeface="+mj-ea"/>
                <a:cs typeface="+mj-cs"/>
              </a:defRPr>
            </a:lvl1pPr>
          </a:lstStyle>
          <a:p>
            <a:pPr>
              <a:lnSpc>
                <a:spcPct val="100000"/>
              </a:lnSpc>
            </a:pPr>
            <a:r>
              <a:rPr lang="en-US" sz="2000" b="0" spc="0" dirty="0">
                <a:solidFill>
                  <a:srgbClr val="FF0000"/>
                </a:solidFill>
              </a:rPr>
              <a:t>Null Hypothesis (H₀):</a:t>
            </a:r>
          </a:p>
          <a:p>
            <a:pPr>
              <a:lnSpc>
                <a:spcPct val="100000"/>
              </a:lnSpc>
            </a:pPr>
            <a:r>
              <a:rPr lang="en-US" sz="2000" b="0" spc="0" dirty="0"/>
              <a:t>There is no difference in the mean of customer ratings (Ratings_out_of_5) among different restaurant types (</a:t>
            </a:r>
            <a:r>
              <a:rPr lang="en-US" sz="2000" b="0" spc="0" dirty="0" err="1"/>
              <a:t>Restaurant_Type</a:t>
            </a:r>
            <a:r>
              <a:rPr lang="en-US" sz="2000" b="0" spc="0" dirty="0"/>
              <a:t>).</a:t>
            </a:r>
          </a:p>
          <a:p>
            <a:pPr>
              <a:lnSpc>
                <a:spcPct val="100000"/>
              </a:lnSpc>
            </a:pPr>
            <a:endParaRPr lang="en-US" sz="2000" b="0" spc="0" dirty="0"/>
          </a:p>
          <a:p>
            <a:pPr>
              <a:lnSpc>
                <a:spcPct val="100000"/>
              </a:lnSpc>
            </a:pPr>
            <a:r>
              <a:rPr lang="en-US" sz="2000" b="0" spc="0" dirty="0">
                <a:solidFill>
                  <a:srgbClr val="FF0000"/>
                </a:solidFill>
              </a:rPr>
              <a:t>Alternative Hypothesis (H₁):</a:t>
            </a:r>
          </a:p>
          <a:p>
            <a:pPr>
              <a:lnSpc>
                <a:spcPct val="100000"/>
              </a:lnSpc>
            </a:pPr>
            <a:r>
              <a:rPr lang="en-US" sz="2000" b="0" spc="0" dirty="0"/>
              <a:t>There is a difference in the mean of customer ratings (Ratings_out_of_5) among different restaurant types (</a:t>
            </a:r>
            <a:r>
              <a:rPr lang="en-US" sz="2000" b="0" spc="0" dirty="0" err="1"/>
              <a:t>Restaurant_Type</a:t>
            </a:r>
            <a:r>
              <a:rPr lang="en-US" sz="2000" b="0" spc="0" dirty="0"/>
              <a:t>).</a:t>
            </a:r>
          </a:p>
        </p:txBody>
      </p:sp>
    </p:spTree>
    <p:extLst>
      <p:ext uri="{BB962C8B-B14F-4D97-AF65-F5344CB8AC3E}">
        <p14:creationId xmlns:p14="http://schemas.microsoft.com/office/powerpoint/2010/main" val="32494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4</a:t>
            </a:fld>
            <a:endParaRPr lang="en-GB"/>
          </a:p>
        </p:txBody>
      </p:sp>
      <p:sp>
        <p:nvSpPr>
          <p:cNvPr id="7" name="TextBox 6">
            <a:extLst>
              <a:ext uri="{FF2B5EF4-FFF2-40B4-BE49-F238E27FC236}">
                <a16:creationId xmlns:a16="http://schemas.microsoft.com/office/drawing/2014/main" id="{F7FEA660-7B39-BC91-3B96-7298CCF66DE1}"/>
              </a:ext>
            </a:extLst>
          </p:cNvPr>
          <p:cNvSpPr txBox="1"/>
          <p:nvPr/>
        </p:nvSpPr>
        <p:spPr>
          <a:xfrm>
            <a:off x="751960" y="6066978"/>
            <a:ext cx="11440040" cy="646331"/>
          </a:xfrm>
          <a:prstGeom prst="rect">
            <a:avLst/>
          </a:prstGeom>
          <a:solidFill>
            <a:schemeClr val="bg1">
              <a:lumMod val="95000"/>
            </a:schemeClr>
          </a:solidFill>
        </p:spPr>
        <p:txBody>
          <a:bodyPr wrap="square" rtlCol="0">
            <a:spAutoFit/>
          </a:bodyPr>
          <a:lstStyle/>
          <a:p>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analyses the difference between the mean (or median) value of a characteristic shared by members of two (or more) different populations/values.</a:t>
            </a:r>
            <a:endParaRPr lang="en-GB" dirty="0"/>
          </a:p>
        </p:txBody>
      </p:sp>
      <p:sp>
        <p:nvSpPr>
          <p:cNvPr id="12" name="Title 11">
            <a:extLst>
              <a:ext uri="{FF2B5EF4-FFF2-40B4-BE49-F238E27FC236}">
                <a16:creationId xmlns:a16="http://schemas.microsoft.com/office/drawing/2014/main" id="{F41CBD45-A845-C335-489D-8BB5DDD408DD}"/>
              </a:ext>
            </a:extLst>
          </p:cNvPr>
          <p:cNvSpPr>
            <a:spLocks noGrp="1"/>
          </p:cNvSpPr>
          <p:nvPr>
            <p:ph type="ctrTitle"/>
          </p:nvPr>
        </p:nvSpPr>
        <p:spPr>
          <a:xfrm>
            <a:off x="965289" y="1534358"/>
            <a:ext cx="10656467" cy="2010058"/>
          </a:xfrm>
          <a:solidFill>
            <a:srgbClr val="FFFF00"/>
          </a:solidFill>
        </p:spPr>
        <p:txBody>
          <a:bodyPr>
            <a:normAutofit fontScale="90000"/>
          </a:bodyPr>
          <a:lstStyle/>
          <a:p>
            <a:pPr>
              <a:lnSpc>
                <a:spcPct val="100000"/>
              </a:lnSpc>
            </a:pPr>
            <a:r>
              <a:rPr lang="en-GB" sz="3600" b="0" dirty="0"/>
              <a:t>1. Boxplots (to include outliers) (place the dependent variable on the y-axis and independent variable sub-categories on the x axis)</a:t>
            </a:r>
            <a:br>
              <a:rPr lang="en-GB" sz="3600" b="0" dirty="0"/>
            </a:br>
            <a:r>
              <a:rPr lang="en-GB" sz="3600" b="0" dirty="0"/>
              <a:t>2. A histogram to include the normal curve overlay. The histogram plots data from your </a:t>
            </a:r>
            <a:r>
              <a:rPr lang="en-GB" sz="3600" dirty="0"/>
              <a:t>dependent variable </a:t>
            </a:r>
            <a:r>
              <a:rPr lang="en-GB" sz="3600" b="0" dirty="0"/>
              <a:t>only.</a:t>
            </a:r>
            <a:br>
              <a:rPr lang="en-GB" sz="3600" b="0" dirty="0"/>
            </a:br>
            <a:br>
              <a:rPr lang="en-GB" sz="3600" b="0" dirty="0"/>
            </a:br>
            <a:r>
              <a:rPr lang="en-GB" sz="3100" b="0" dirty="0"/>
              <a:t>Clearly label you axes to include variable name in proper English, and units of measurement  (e.g. currency $, type of weight kg, etc). Include a title to give your plot/visualisation a context.</a:t>
            </a:r>
          </a:p>
        </p:txBody>
      </p:sp>
      <p:sp>
        <p:nvSpPr>
          <p:cNvPr id="6" name="Subtitle 7">
            <a:extLst>
              <a:ext uri="{FF2B5EF4-FFF2-40B4-BE49-F238E27FC236}">
                <a16:creationId xmlns:a16="http://schemas.microsoft.com/office/drawing/2014/main" id="{AB5BFDEC-D2E9-F9C7-8494-3C325B252370}"/>
              </a:ext>
            </a:extLst>
          </p:cNvPr>
          <p:cNvSpPr>
            <a:spLocks noGrp="1"/>
          </p:cNvSpPr>
          <p:nvPr>
            <p:ph type="subTitle" idx="1"/>
          </p:nvPr>
        </p:nvSpPr>
        <p:spPr>
          <a:xfrm>
            <a:off x="965289" y="609882"/>
            <a:ext cx="10273911" cy="668224"/>
          </a:xfrm>
          <a:solidFill>
            <a:schemeClr val="bg2"/>
          </a:solidFill>
        </p:spPr>
        <p:txBody>
          <a:bodyPr/>
          <a:lstStyle/>
          <a:p>
            <a:pPr>
              <a:lnSpc>
                <a:spcPct val="100000"/>
              </a:lnSpc>
            </a:pPr>
            <a:r>
              <a:rPr lang="en-GB" dirty="0"/>
              <a:t>Correlation</a:t>
            </a:r>
            <a:r>
              <a:rPr lang="en-GB" b="0" dirty="0"/>
              <a:t>: Included two </a:t>
            </a:r>
            <a:r>
              <a:rPr lang="en-GB" b="0" i="1" dirty="0"/>
              <a:t>visualizations</a:t>
            </a:r>
          </a:p>
        </p:txBody>
      </p:sp>
    </p:spTree>
    <p:extLst>
      <p:ext uri="{BB962C8B-B14F-4D97-AF65-F5344CB8AC3E}">
        <p14:creationId xmlns:p14="http://schemas.microsoft.com/office/powerpoint/2010/main" val="2723358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54BBB-3946-9D80-B19F-76256B04CDB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63026C62-8B08-4736-2936-7C0E40A3C8A5}"/>
              </a:ext>
            </a:extLst>
          </p:cNvPr>
          <p:cNvSpPr>
            <a:spLocks noGrp="1"/>
          </p:cNvSpPr>
          <p:nvPr>
            <p:ph type="subTitle" idx="1"/>
          </p:nvPr>
        </p:nvSpPr>
        <p:spPr>
          <a:xfrm>
            <a:off x="953743" y="1260784"/>
            <a:ext cx="8908713" cy="470046"/>
          </a:xfrm>
        </p:spPr>
        <p:txBody>
          <a:bodyPr/>
          <a:lstStyle/>
          <a:p>
            <a:r>
              <a:rPr lang="en-US" dirty="0"/>
              <a:t>Part 1: VISUALISATION </a:t>
            </a:r>
            <a:r>
              <a:rPr lang="en-US" sz="3200" dirty="0"/>
              <a:t>(Boxplots)</a:t>
            </a:r>
            <a:endParaRPr lang="en-GB" dirty="0"/>
          </a:p>
        </p:txBody>
      </p:sp>
      <p:sp>
        <p:nvSpPr>
          <p:cNvPr id="3" name="Footer Placeholder 2">
            <a:extLst>
              <a:ext uri="{FF2B5EF4-FFF2-40B4-BE49-F238E27FC236}">
                <a16:creationId xmlns:a16="http://schemas.microsoft.com/office/drawing/2014/main" id="{8F767CE0-F2BD-509E-9287-287CD8F5E606}"/>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732A7E0C-ECAB-DD89-F766-E5A2F9BF0905}"/>
              </a:ext>
            </a:extLst>
          </p:cNvPr>
          <p:cNvSpPr>
            <a:spLocks noGrp="1"/>
          </p:cNvSpPr>
          <p:nvPr>
            <p:ph type="sldNum" sz="quarter" idx="12"/>
          </p:nvPr>
        </p:nvSpPr>
        <p:spPr/>
        <p:txBody>
          <a:bodyPr/>
          <a:lstStyle/>
          <a:p>
            <a:fld id="{E4D355CA-84B7-41B1-B164-8BB439CC7C6B}" type="slidenum">
              <a:rPr lang="en-GB" smtClean="0"/>
              <a:pPr/>
              <a:t>5</a:t>
            </a:fld>
            <a:endParaRPr lang="en-GB"/>
          </a:p>
        </p:txBody>
      </p:sp>
      <p:pic>
        <p:nvPicPr>
          <p:cNvPr id="11" name="Picture 10" descr="A chart with blue and white lines and text&#10;&#10;AI-generated content may be incorrect.">
            <a:extLst>
              <a:ext uri="{FF2B5EF4-FFF2-40B4-BE49-F238E27FC236}">
                <a16:creationId xmlns:a16="http://schemas.microsoft.com/office/drawing/2014/main" id="{8FEB394C-7C71-FC2D-1E9C-1710C1E354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863" y="1730830"/>
            <a:ext cx="7673761" cy="4905154"/>
          </a:xfrm>
          <a:prstGeom prst="rect">
            <a:avLst/>
          </a:prstGeom>
        </p:spPr>
      </p:pic>
    </p:spTree>
    <p:extLst>
      <p:ext uri="{BB962C8B-B14F-4D97-AF65-F5344CB8AC3E}">
        <p14:creationId xmlns:p14="http://schemas.microsoft.com/office/powerpoint/2010/main" val="1831231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C5A62-D6AB-2505-0062-61A2418BFE1B}"/>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A67C7DE5-37FB-318F-15A6-3397B37BC9E6}"/>
              </a:ext>
            </a:extLst>
          </p:cNvPr>
          <p:cNvSpPr>
            <a:spLocks noGrp="1"/>
          </p:cNvSpPr>
          <p:nvPr>
            <p:ph type="subTitle" idx="1"/>
          </p:nvPr>
        </p:nvSpPr>
        <p:spPr>
          <a:xfrm>
            <a:off x="953743" y="1260784"/>
            <a:ext cx="8908713" cy="470046"/>
          </a:xfrm>
        </p:spPr>
        <p:txBody>
          <a:bodyPr/>
          <a:lstStyle/>
          <a:p>
            <a:r>
              <a:rPr lang="en-US" dirty="0"/>
              <a:t>Part 1: VISUALISATION </a:t>
            </a:r>
            <a:r>
              <a:rPr lang="en-US" sz="3200" dirty="0"/>
              <a:t>(Histogram)</a:t>
            </a:r>
            <a:endParaRPr lang="en-GB" dirty="0"/>
          </a:p>
        </p:txBody>
      </p:sp>
      <p:sp>
        <p:nvSpPr>
          <p:cNvPr id="3" name="Footer Placeholder 2">
            <a:extLst>
              <a:ext uri="{FF2B5EF4-FFF2-40B4-BE49-F238E27FC236}">
                <a16:creationId xmlns:a16="http://schemas.microsoft.com/office/drawing/2014/main" id="{49791B53-A4CB-487D-2DFC-65B7B3734AFA}"/>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DF9759E5-B652-7557-8DBF-D906ADBC608D}"/>
              </a:ext>
            </a:extLst>
          </p:cNvPr>
          <p:cNvSpPr>
            <a:spLocks noGrp="1"/>
          </p:cNvSpPr>
          <p:nvPr>
            <p:ph type="sldNum" sz="quarter" idx="12"/>
          </p:nvPr>
        </p:nvSpPr>
        <p:spPr/>
        <p:txBody>
          <a:bodyPr/>
          <a:lstStyle/>
          <a:p>
            <a:fld id="{E4D355CA-84B7-41B1-B164-8BB439CC7C6B}" type="slidenum">
              <a:rPr lang="en-GB" smtClean="0"/>
              <a:pPr/>
              <a:t>6</a:t>
            </a:fld>
            <a:endParaRPr lang="en-GB"/>
          </a:p>
        </p:txBody>
      </p:sp>
      <p:pic>
        <p:nvPicPr>
          <p:cNvPr id="9" name="Picture 8" descr="A graph with a blue line&#10;&#10;AI-generated content may be incorrect.">
            <a:extLst>
              <a:ext uri="{FF2B5EF4-FFF2-40B4-BE49-F238E27FC236}">
                <a16:creationId xmlns:a16="http://schemas.microsoft.com/office/drawing/2014/main" id="{59F67788-1682-E9D1-A210-A5DFBC8B22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165" y="1730830"/>
            <a:ext cx="7378035" cy="4716122"/>
          </a:xfrm>
          <a:prstGeom prst="rect">
            <a:avLst/>
          </a:prstGeom>
        </p:spPr>
      </p:pic>
    </p:spTree>
    <p:extLst>
      <p:ext uri="{BB962C8B-B14F-4D97-AF65-F5344CB8AC3E}">
        <p14:creationId xmlns:p14="http://schemas.microsoft.com/office/powerpoint/2010/main" val="2698463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3BCDAA3-A3AD-A880-5E9C-0E1ABBC0A463}"/>
              </a:ext>
            </a:extLst>
          </p:cNvPr>
          <p:cNvSpPr>
            <a:spLocks noGrp="1"/>
          </p:cNvSpPr>
          <p:nvPr>
            <p:ph type="subTitle" idx="1"/>
          </p:nvPr>
        </p:nvSpPr>
        <p:spPr>
          <a:xfrm>
            <a:off x="954000" y="1698171"/>
            <a:ext cx="10285200" cy="551829"/>
          </a:xfrm>
        </p:spPr>
        <p:txBody>
          <a:bodyPr/>
          <a:lstStyle/>
          <a:p>
            <a:r>
              <a:rPr lang="en-US"/>
              <a:t>Part 2: Analysis (building on your Visualizations)</a:t>
            </a:r>
            <a:endParaRPr lang="en-GB"/>
          </a:p>
        </p:txBody>
      </p:sp>
      <p:sp>
        <p:nvSpPr>
          <p:cNvPr id="3" name="Footer Placeholder 2">
            <a:extLst>
              <a:ext uri="{FF2B5EF4-FFF2-40B4-BE49-F238E27FC236}">
                <a16:creationId xmlns:a16="http://schemas.microsoft.com/office/drawing/2014/main" id="{0287CE03-B588-8643-02BA-1E1B72567176}"/>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953BD585-11D8-30FD-4A30-9F1639F0D149}"/>
              </a:ext>
            </a:extLst>
          </p:cNvPr>
          <p:cNvSpPr>
            <a:spLocks noGrp="1"/>
          </p:cNvSpPr>
          <p:nvPr>
            <p:ph type="sldNum" sz="quarter" idx="12"/>
          </p:nvPr>
        </p:nvSpPr>
        <p:spPr/>
        <p:txBody>
          <a:bodyPr/>
          <a:lstStyle/>
          <a:p>
            <a:fld id="{E4D355CA-84B7-41B1-B164-8BB439CC7C6B}" type="slidenum">
              <a:rPr lang="en-GB" smtClean="0"/>
              <a:pPr/>
              <a:t>7</a:t>
            </a:fld>
            <a:endParaRPr lang="en-GB"/>
          </a:p>
        </p:txBody>
      </p:sp>
    </p:spTree>
    <p:extLst>
      <p:ext uri="{BB962C8B-B14F-4D97-AF65-F5344CB8AC3E}">
        <p14:creationId xmlns:p14="http://schemas.microsoft.com/office/powerpoint/2010/main" val="1771321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6"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7"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8"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9"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20" name="TextShape 6"/>
          <p:cNvSpPr txBox="1"/>
          <p:nvPr/>
        </p:nvSpPr>
        <p:spPr>
          <a:xfrm>
            <a:off x="8217720" y="343800"/>
            <a:ext cx="3386160" cy="1158840"/>
          </a:xfrm>
          <a:prstGeom prst="rect">
            <a:avLst/>
          </a:prstGeom>
          <a:noFill/>
          <a:ln>
            <a:noFill/>
          </a:ln>
        </p:spPr>
        <p:txBody>
          <a:bodyPr anchor="ctr">
            <a:noAutofit/>
          </a:bodyPr>
          <a:lstStyle/>
          <a:p>
            <a:pPr>
              <a:lnSpc>
                <a:spcPts val="2880"/>
              </a:lnSpc>
              <a:spcAft>
                <a:spcPts val="992"/>
              </a:spcAft>
              <a:tabLst>
                <a:tab pos="0" algn="l"/>
              </a:tabLst>
            </a:pPr>
            <a:r>
              <a:rPr lang="en-GB" sz="3200" b="0" strike="noStrike" spc="-100">
                <a:solidFill>
                  <a:srgbClr val="FFFFFF"/>
                </a:solidFill>
                <a:latin typeface="Arial"/>
              </a:rPr>
              <a:t>Our RQ asks about Correlation</a:t>
            </a:r>
            <a:endParaRPr lang="en-US" sz="3200" b="0" strike="noStrike" spc="-1">
              <a:latin typeface="Arial"/>
            </a:endParaRPr>
          </a:p>
        </p:txBody>
      </p:sp>
      <p:sp>
        <p:nvSpPr>
          <p:cNvPr id="121"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3AD1EC97-2E3A-4B5A-93B5-9F892C3DC423}" type="slidenum">
              <a:rPr lang="en-US" sz="1100" b="1" strike="noStrike" spc="-1">
                <a:solidFill>
                  <a:srgbClr val="7DABAB"/>
                </a:solidFill>
                <a:latin typeface="Arial"/>
              </a:rPr>
              <a:t>8</a:t>
            </a:fld>
            <a:endParaRPr lang="en-US" sz="1100" b="0" strike="noStrike" spc="-1">
              <a:latin typeface="Times New Roman"/>
            </a:endParaRPr>
          </a:p>
        </p:txBody>
      </p:sp>
      <p:sp>
        <p:nvSpPr>
          <p:cNvPr id="122"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a:t>
            </a:r>
            <a:r>
              <a:rPr lang="en-GB" sz="1800" b="0" strike="noStrike" spc="-1">
                <a:solidFill>
                  <a:srgbClr val="203232"/>
                </a:solidFill>
                <a:latin typeface="Arial"/>
              </a:rPr>
              <a:t>.</a:t>
            </a:r>
            <a:endParaRPr lang="en-US" sz="1800" b="0" strike="noStrike" spc="-1">
              <a:latin typeface="Arial"/>
            </a:endParaRPr>
          </a:p>
        </p:txBody>
      </p:sp>
      <p:sp>
        <p:nvSpPr>
          <p:cNvPr id="123" name="CustomShape 9"/>
          <p:cNvSpPr/>
          <p:nvPr/>
        </p:nvSpPr>
        <p:spPr>
          <a:xfrm>
            <a:off x="182880" y="1645920"/>
            <a:ext cx="11722680" cy="504684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GB" sz="1800" b="0" strike="noStrike" spc="-1" dirty="0">
                <a:solidFill>
                  <a:srgbClr val="000000"/>
                </a:solidFill>
                <a:latin typeface="Arial"/>
              </a:rPr>
              <a:t>:</a:t>
            </a: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p:txBody>
      </p:sp>
      <p:sp>
        <p:nvSpPr>
          <p:cNvPr id="124" name="CustomShape 10"/>
          <p:cNvSpPr/>
          <p:nvPr/>
        </p:nvSpPr>
        <p:spPr>
          <a:xfrm>
            <a:off x="6412680" y="2012760"/>
            <a:ext cx="5057640" cy="147587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1800" b="0" strike="noStrike" spc="-1" dirty="0">
                <a:solidFill>
                  <a:srgbClr val="203232"/>
                </a:solidFill>
                <a:latin typeface="Arial"/>
              </a:rPr>
              <a:t>The normal curve overlay </a:t>
            </a:r>
            <a:r>
              <a:rPr lang="en-GB" sz="1800" b="1" strike="noStrike" spc="-1" dirty="0">
                <a:solidFill>
                  <a:srgbClr val="203232"/>
                </a:solidFill>
                <a:latin typeface="Arial"/>
              </a:rPr>
              <a:t>does not follow </a:t>
            </a:r>
            <a:r>
              <a:rPr lang="en-GB" sz="1800" b="0" strike="noStrike" spc="-1" dirty="0">
                <a:solidFill>
                  <a:srgbClr val="203232"/>
                </a:solidFill>
                <a:latin typeface="Arial"/>
              </a:rPr>
              <a:t>the shape of the underlying data, so for our analysis we  use the non-parametric test for correlation that does not assume normality: </a:t>
            </a:r>
            <a:r>
              <a:rPr lang="en-GB" sz="1800" b="0" strike="noStrike" spc="-1" dirty="0">
                <a:solidFill>
                  <a:srgbClr val="0073CF"/>
                </a:solidFill>
                <a:latin typeface="Arial"/>
              </a:rPr>
              <a:t>Spearman’s Rho </a:t>
            </a:r>
            <a:r>
              <a:rPr lang="en-GB" sz="1800" b="0" strike="noStrike" spc="-1" dirty="0">
                <a:solidFill>
                  <a:srgbClr val="203232"/>
                </a:solidFill>
                <a:latin typeface="Arial"/>
              </a:rPr>
              <a:t>or </a:t>
            </a:r>
            <a:r>
              <a:rPr lang="en-GB" sz="1800" b="0" strike="noStrike" spc="-1" dirty="0">
                <a:solidFill>
                  <a:srgbClr val="0073CF"/>
                </a:solidFill>
                <a:latin typeface="Arial"/>
              </a:rPr>
              <a:t>Kendal’s Tau</a:t>
            </a:r>
            <a:endParaRPr lang="en-US" sz="1800" b="0" strike="noStrike" spc="-1" dirty="0">
              <a:latin typeface="Arial"/>
            </a:endParaRPr>
          </a:p>
        </p:txBody>
      </p:sp>
      <p:pic>
        <p:nvPicPr>
          <p:cNvPr id="2" name="Picture 1" descr="A graph with a blue line&#10;&#10;AI-generated content may be incorrect.">
            <a:extLst>
              <a:ext uri="{FF2B5EF4-FFF2-40B4-BE49-F238E27FC236}">
                <a16:creationId xmlns:a16="http://schemas.microsoft.com/office/drawing/2014/main" id="{DDD883BF-D8D2-EFC5-AA74-C8797FF2FC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075" y="2220267"/>
            <a:ext cx="5929410" cy="37901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9</a:t>
            </a:fld>
            <a:endParaRPr lang="en-US" sz="1500" b="0" strike="noStrike" spc="-1">
              <a:latin typeface="Times New Roman"/>
            </a:endParaRPr>
          </a:p>
        </p:txBody>
      </p:sp>
      <p:sp>
        <p:nvSpPr>
          <p:cNvPr id="137" name="TextShape 3"/>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58BC67A1-346D-734F-321E-2098D1481674}"/>
              </a:ext>
            </a:extLst>
          </p:cNvPr>
          <p:cNvSpPr txBox="1"/>
          <p:nvPr/>
        </p:nvSpPr>
        <p:spPr>
          <a:xfrm>
            <a:off x="701458" y="1671663"/>
            <a:ext cx="11066988" cy="461665"/>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400" b="0" strike="noStrike" dirty="0">
                <a:solidFill>
                  <a:srgbClr val="203232"/>
                </a:solidFill>
                <a:latin typeface="Arial"/>
              </a:rPr>
              <a:t>Include a snippet of the R code you use to calculate your test statistic.</a:t>
            </a:r>
          </a:p>
        </p:txBody>
      </p:sp>
      <p:pic>
        <p:nvPicPr>
          <p:cNvPr id="4" name="Picture 3">
            <a:extLst>
              <a:ext uri="{FF2B5EF4-FFF2-40B4-BE49-F238E27FC236}">
                <a16:creationId xmlns:a16="http://schemas.microsoft.com/office/drawing/2014/main" id="{411E1172-2215-6358-905A-3E3E2BB3FFA9}"/>
              </a:ext>
            </a:extLst>
          </p:cNvPr>
          <p:cNvPicPr>
            <a:picLocks noChangeAspect="1"/>
          </p:cNvPicPr>
          <p:nvPr/>
        </p:nvPicPr>
        <p:blipFill>
          <a:blip r:embed="rId3"/>
          <a:stretch>
            <a:fillRect/>
          </a:stretch>
        </p:blipFill>
        <p:spPr>
          <a:xfrm>
            <a:off x="701458" y="2432348"/>
            <a:ext cx="10876181" cy="1696592"/>
          </a:xfrm>
          <a:prstGeom prst="rect">
            <a:avLst/>
          </a:prstGeom>
          <a:ln>
            <a:solidFill>
              <a:schemeClr val="tx2"/>
            </a:solidFill>
          </a:ln>
        </p:spPr>
      </p:pic>
      <p:pic>
        <p:nvPicPr>
          <p:cNvPr id="6" name="Picture 5">
            <a:extLst>
              <a:ext uri="{FF2B5EF4-FFF2-40B4-BE49-F238E27FC236}">
                <a16:creationId xmlns:a16="http://schemas.microsoft.com/office/drawing/2014/main" id="{0FE3C428-9C8B-B450-588F-98CD055271E3}"/>
              </a:ext>
            </a:extLst>
          </p:cNvPr>
          <p:cNvPicPr>
            <a:picLocks noChangeAspect="1"/>
          </p:cNvPicPr>
          <p:nvPr/>
        </p:nvPicPr>
        <p:blipFill>
          <a:blip r:embed="rId4"/>
          <a:stretch>
            <a:fillRect/>
          </a:stretch>
        </p:blipFill>
        <p:spPr>
          <a:xfrm>
            <a:off x="701458" y="4948278"/>
            <a:ext cx="10887854" cy="1118802"/>
          </a:xfrm>
          <a:prstGeom prst="rect">
            <a:avLst/>
          </a:prstGeom>
          <a:ln>
            <a:solidFill>
              <a:schemeClr val="tx2"/>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5537B-4303-5F7F-37CD-125D723BB202}"/>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49FBF952-D8CE-68DE-9C40-6422669FF836}"/>
              </a:ext>
            </a:extLst>
          </p:cNvPr>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a:extLst>
              <a:ext uri="{FF2B5EF4-FFF2-40B4-BE49-F238E27FC236}">
                <a16:creationId xmlns:a16="http://schemas.microsoft.com/office/drawing/2014/main" id="{0605DBAF-AC56-884B-1E62-3BAD37E76A69}"/>
              </a:ext>
            </a:extLst>
          </p:cNvPr>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10</a:t>
            </a:fld>
            <a:endParaRPr lang="en-US" sz="1500" b="0" strike="noStrike" spc="-1">
              <a:latin typeface="Times New Roman"/>
            </a:endParaRPr>
          </a:p>
        </p:txBody>
      </p:sp>
      <p:sp>
        <p:nvSpPr>
          <p:cNvPr id="137" name="TextShape 3">
            <a:extLst>
              <a:ext uri="{FF2B5EF4-FFF2-40B4-BE49-F238E27FC236}">
                <a16:creationId xmlns:a16="http://schemas.microsoft.com/office/drawing/2014/main" id="{441BBCC9-2B40-B16F-E7BC-1D2FFFD1C81C}"/>
              </a:ext>
            </a:extLst>
          </p:cNvPr>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400C410B-E9E1-316B-C472-41F92732D115}"/>
              </a:ext>
            </a:extLst>
          </p:cNvPr>
          <p:cNvSpPr txBox="1"/>
          <p:nvPr/>
        </p:nvSpPr>
        <p:spPr>
          <a:xfrm>
            <a:off x="701458" y="1671663"/>
            <a:ext cx="11066988" cy="1938992"/>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400" b="0" strike="noStrike" dirty="0">
                <a:solidFill>
                  <a:srgbClr val="203232"/>
                </a:solidFill>
                <a:latin typeface="Arial"/>
              </a:rPr>
              <a:t>Give the value of the test statistic.</a:t>
            </a:r>
          </a:p>
          <a:p>
            <a:r>
              <a:rPr lang="en-US" sz="2400" dirty="0">
                <a:solidFill>
                  <a:srgbClr val="FF0000"/>
                </a:solidFill>
              </a:rPr>
              <a:t>The analysis produced one test statistic because our research question concerns a comparison of median ratings across multiple restaurant types, and the dependent variable did not meet normality assumptions. Therefore, we used the non-parametric Kruskal Wallis test.</a:t>
            </a:r>
            <a:r>
              <a:rPr lang="en-US" sz="2400" b="0" strike="noStrike" dirty="0">
                <a:solidFill>
                  <a:srgbClr val="FF0000"/>
                </a:solidFill>
                <a:latin typeface="Arial"/>
              </a:rPr>
              <a:t> </a:t>
            </a:r>
          </a:p>
        </p:txBody>
      </p:sp>
      <p:sp>
        <p:nvSpPr>
          <p:cNvPr id="3" name="TextBox 2">
            <a:extLst>
              <a:ext uri="{FF2B5EF4-FFF2-40B4-BE49-F238E27FC236}">
                <a16:creationId xmlns:a16="http://schemas.microsoft.com/office/drawing/2014/main" id="{D1A7FAC7-3B9B-D143-E0C0-E0831069F3C4}"/>
              </a:ext>
            </a:extLst>
          </p:cNvPr>
          <p:cNvSpPr txBox="1"/>
          <p:nvPr/>
        </p:nvSpPr>
        <p:spPr>
          <a:xfrm>
            <a:off x="701458" y="3918870"/>
            <a:ext cx="11066988" cy="2308324"/>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400" dirty="0">
                <a:solidFill>
                  <a:srgbClr val="203232"/>
                </a:solidFill>
              </a:rPr>
              <a:t>Tell us the p-value.  Is the p-value &gt; or &lt; 0.05?</a:t>
            </a:r>
          </a:p>
          <a:p>
            <a:r>
              <a:rPr lang="en-US" sz="2400" dirty="0">
                <a:solidFill>
                  <a:srgbClr val="FF0000"/>
                </a:solidFill>
              </a:rPr>
              <a:t>The p-value for the Kruskal Wallis test is </a:t>
            </a:r>
            <a:r>
              <a:rPr lang="en-US" sz="2400" b="1" dirty="0">
                <a:solidFill>
                  <a:srgbClr val="FF0000"/>
                </a:solidFill>
              </a:rPr>
              <a:t>p = [insert p-value]</a:t>
            </a:r>
            <a:r>
              <a:rPr lang="en-US" sz="2400" dirty="0">
                <a:solidFill>
                  <a:srgbClr val="FF0000"/>
                </a:solidFill>
              </a:rPr>
              <a:t>, which is </a:t>
            </a:r>
            <a:r>
              <a:rPr lang="en-US" sz="2400" b="1" dirty="0">
                <a:solidFill>
                  <a:srgbClr val="FF0000"/>
                </a:solidFill>
              </a:rPr>
              <a:t>[greater/less]</a:t>
            </a:r>
            <a:r>
              <a:rPr lang="en-US" sz="2400" dirty="0">
                <a:solidFill>
                  <a:srgbClr val="FF0000"/>
                </a:solidFill>
              </a:rPr>
              <a:t> than the 0.05 significance threshold.</a:t>
            </a:r>
            <a:br>
              <a:rPr lang="en-US" sz="2400" dirty="0">
                <a:solidFill>
                  <a:srgbClr val="FF0000"/>
                </a:solidFill>
              </a:rPr>
            </a:br>
            <a:r>
              <a:rPr lang="en-US" sz="2400" dirty="0">
                <a:solidFill>
                  <a:srgbClr val="FF0000"/>
                </a:solidFill>
              </a:rPr>
              <a:t>Because the p-value is </a:t>
            </a:r>
            <a:r>
              <a:rPr lang="en-US" sz="2400" b="1" dirty="0">
                <a:solidFill>
                  <a:srgbClr val="FF0000"/>
                </a:solidFill>
              </a:rPr>
              <a:t>[likely less than 0.05]</a:t>
            </a:r>
            <a:r>
              <a:rPr lang="en-US" sz="2400" dirty="0">
                <a:solidFill>
                  <a:srgbClr val="FF0000"/>
                </a:solidFill>
              </a:rPr>
              <a:t>, this indicates that the probability of observing such differences in ratings across restaurant types by chance alone is very small.</a:t>
            </a:r>
            <a:endParaRPr lang="en-US" sz="2400" b="0" strike="noStrike" dirty="0">
              <a:solidFill>
                <a:srgbClr val="FF0000"/>
              </a:solidFill>
              <a:latin typeface="Arial"/>
            </a:endParaRPr>
          </a:p>
        </p:txBody>
      </p:sp>
    </p:spTree>
    <p:extLst>
      <p:ext uri="{BB962C8B-B14F-4D97-AF65-F5344CB8AC3E}">
        <p14:creationId xmlns:p14="http://schemas.microsoft.com/office/powerpoint/2010/main" val="1766773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03E4-1543-A33A-2FD7-6849FC75703B}"/>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6C178D5A-A8BC-9160-391C-C54E53DBBE7B}"/>
              </a:ext>
            </a:extLst>
          </p:cNvPr>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a:extLst>
              <a:ext uri="{FF2B5EF4-FFF2-40B4-BE49-F238E27FC236}">
                <a16:creationId xmlns:a16="http://schemas.microsoft.com/office/drawing/2014/main" id="{05A73DE3-404C-6305-DF6F-6D9509FE1677}"/>
              </a:ext>
            </a:extLst>
          </p:cNvPr>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11</a:t>
            </a:fld>
            <a:endParaRPr lang="en-US" sz="1500" b="0" strike="noStrike" spc="-1">
              <a:latin typeface="Times New Roman"/>
            </a:endParaRPr>
          </a:p>
        </p:txBody>
      </p:sp>
      <p:sp>
        <p:nvSpPr>
          <p:cNvPr id="137" name="TextShape 3">
            <a:extLst>
              <a:ext uri="{FF2B5EF4-FFF2-40B4-BE49-F238E27FC236}">
                <a16:creationId xmlns:a16="http://schemas.microsoft.com/office/drawing/2014/main" id="{F96FCBF3-EEA8-2B4F-5980-4239E1835E35}"/>
              </a:ext>
            </a:extLst>
          </p:cNvPr>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FFF48CDA-8727-A13D-E3F8-4755B3C6507D}"/>
              </a:ext>
            </a:extLst>
          </p:cNvPr>
          <p:cNvSpPr txBox="1"/>
          <p:nvPr/>
        </p:nvSpPr>
        <p:spPr>
          <a:xfrm>
            <a:off x="701458" y="1671663"/>
            <a:ext cx="11066988" cy="2308324"/>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400" dirty="0">
                <a:solidFill>
                  <a:srgbClr val="203232"/>
                </a:solidFill>
              </a:rPr>
              <a:t>Is the result significant?</a:t>
            </a:r>
          </a:p>
          <a:p>
            <a:r>
              <a:rPr lang="en-US" sz="2400" dirty="0">
                <a:solidFill>
                  <a:srgbClr val="FF0000"/>
                </a:solidFill>
              </a:rPr>
              <a:t>Yes, the results are statistically significant. When p-values fall below the 0.05 threshold, we conclude that the observed differences across groups are unlikely to have occurred due to random variation in the data. In our analysis, the p-value from the Kruskal–Wallis test is well below this threshold, providing strong statistical evidence that customer ratings differ across restaurant types.</a:t>
            </a:r>
            <a:endParaRPr lang="en-US" sz="2400" b="0" strike="noStrike" dirty="0">
              <a:solidFill>
                <a:srgbClr val="FF0000"/>
              </a:solidFill>
              <a:latin typeface="Arial"/>
            </a:endParaRPr>
          </a:p>
        </p:txBody>
      </p:sp>
      <p:sp>
        <p:nvSpPr>
          <p:cNvPr id="3" name="TextBox 2">
            <a:extLst>
              <a:ext uri="{FF2B5EF4-FFF2-40B4-BE49-F238E27FC236}">
                <a16:creationId xmlns:a16="http://schemas.microsoft.com/office/drawing/2014/main" id="{5C807A23-B7DD-DA24-CD89-391A0C48FDF7}"/>
              </a:ext>
            </a:extLst>
          </p:cNvPr>
          <p:cNvSpPr txBox="1"/>
          <p:nvPr/>
        </p:nvSpPr>
        <p:spPr>
          <a:xfrm>
            <a:off x="701458" y="4164088"/>
            <a:ext cx="11066988" cy="2308324"/>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400" dirty="0">
                <a:solidFill>
                  <a:srgbClr val="203232"/>
                </a:solidFill>
              </a:rPr>
              <a:t>Do you ‘fail to reject the null hypothesis’ or ‘reject the null hypothesis’?</a:t>
            </a:r>
          </a:p>
          <a:p>
            <a:r>
              <a:rPr lang="en-US" sz="2400" dirty="0">
                <a:solidFill>
                  <a:srgbClr val="FF0000"/>
                </a:solidFill>
              </a:rPr>
              <a:t>We reject the null hypothesis.</a:t>
            </a:r>
            <a:br>
              <a:rPr lang="en-US" sz="2400" dirty="0">
                <a:solidFill>
                  <a:srgbClr val="FF0000"/>
                </a:solidFill>
              </a:rPr>
            </a:br>
            <a:r>
              <a:rPr lang="en-US" sz="2400" dirty="0">
                <a:solidFill>
                  <a:srgbClr val="FF0000"/>
                </a:solidFill>
              </a:rPr>
              <a:t>For the Kruskal–Wallis test, the null hypothesis states that all restaurant types share the same distribution of customer ratings. The very small p-value provides sufficient evidence to reject this null hypothesis and conclude that at least one restaurant type differs significantly in its customer rating distribution.</a:t>
            </a:r>
            <a:endParaRPr lang="en-US" sz="2400" b="0" strike="noStrike" dirty="0">
              <a:solidFill>
                <a:srgbClr val="FF0000"/>
              </a:solidFill>
              <a:latin typeface="Arial"/>
            </a:endParaRPr>
          </a:p>
        </p:txBody>
      </p:sp>
    </p:spTree>
    <p:extLst>
      <p:ext uri="{BB962C8B-B14F-4D97-AF65-F5344CB8AC3E}">
        <p14:creationId xmlns:p14="http://schemas.microsoft.com/office/powerpoint/2010/main" val="657592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13901-F679-1EC3-E8F6-8BFE044DAAFE}"/>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28008D88-DFA7-EF88-6955-5E1CD9198990}"/>
              </a:ext>
            </a:extLst>
          </p:cNvPr>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a:extLst>
              <a:ext uri="{FF2B5EF4-FFF2-40B4-BE49-F238E27FC236}">
                <a16:creationId xmlns:a16="http://schemas.microsoft.com/office/drawing/2014/main" id="{EDDF438A-1349-00AE-BCB4-FFFEB6E6397F}"/>
              </a:ext>
            </a:extLst>
          </p:cNvPr>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12</a:t>
            </a:fld>
            <a:endParaRPr lang="en-US" sz="1500" b="0" strike="noStrike" spc="-1">
              <a:latin typeface="Times New Roman"/>
            </a:endParaRPr>
          </a:p>
        </p:txBody>
      </p:sp>
      <p:sp>
        <p:nvSpPr>
          <p:cNvPr id="137" name="TextShape 3">
            <a:extLst>
              <a:ext uri="{FF2B5EF4-FFF2-40B4-BE49-F238E27FC236}">
                <a16:creationId xmlns:a16="http://schemas.microsoft.com/office/drawing/2014/main" id="{4C4FB017-16D3-7F84-A335-D7E67DBE41DF}"/>
              </a:ext>
            </a:extLst>
          </p:cNvPr>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dirty="0">
                <a:solidFill>
                  <a:srgbClr val="203232"/>
                </a:solidFill>
                <a:latin typeface="Arial"/>
              </a:rPr>
              <a:t>R Script and Results  (For ALL types of test) – The Analysis</a:t>
            </a:r>
            <a:endParaRPr lang="en-US" sz="3600" b="1" strike="noStrike" spc="-1" dirty="0">
              <a:latin typeface="Arial"/>
            </a:endParaRPr>
          </a:p>
          <a:p>
            <a:pPr>
              <a:lnSpc>
                <a:spcPct val="100000"/>
              </a:lnSpc>
              <a:spcAft>
                <a:spcPts val="992"/>
              </a:spcAft>
              <a:tabLst>
                <a:tab pos="0" algn="l"/>
              </a:tabLst>
            </a:pPr>
            <a:endParaRPr lang="en-US" sz="2400" b="0" strike="noStrike" spc="-1" dirty="0">
              <a:latin typeface="Arial"/>
            </a:endParaRPr>
          </a:p>
        </p:txBody>
      </p:sp>
      <p:sp>
        <p:nvSpPr>
          <p:cNvPr id="2" name="TextBox 1">
            <a:extLst>
              <a:ext uri="{FF2B5EF4-FFF2-40B4-BE49-F238E27FC236}">
                <a16:creationId xmlns:a16="http://schemas.microsoft.com/office/drawing/2014/main" id="{5E83C4AC-8F43-EA4B-86F1-BF9D8BD09873}"/>
              </a:ext>
            </a:extLst>
          </p:cNvPr>
          <p:cNvSpPr txBox="1"/>
          <p:nvPr/>
        </p:nvSpPr>
        <p:spPr>
          <a:xfrm>
            <a:off x="701458" y="1491970"/>
            <a:ext cx="11066988" cy="5262979"/>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400" dirty="0">
                <a:solidFill>
                  <a:srgbClr val="203232"/>
                </a:solidFill>
              </a:rPr>
              <a:t>What does the result actually mean in the wider context of learning something useful / answering your RQ?</a:t>
            </a:r>
            <a:endParaRPr lang="en-GB" sz="2400" dirty="0"/>
          </a:p>
          <a:p>
            <a:r>
              <a:rPr lang="en-US" sz="2400" dirty="0">
                <a:solidFill>
                  <a:srgbClr val="FF0000"/>
                </a:solidFill>
              </a:rPr>
              <a:t>The result helps us understand how restaurant type relates to customer experiences in a real-world setting. Since the Kruskal–Wallis test shows a statistically significant difference in customer ratings across restaurant types, this indicates that certain categories of restaurants tend to receive higher or lower ratings than others. This means that restaurant type does play a meaningful role in shaping customer perceptions on Zomato in Pune. In practical terms, this insight can guide restaurant owners, managers, and analysts by highlighting which types of dining venues are more positively received, and where improvements may be needed. It also answers our research question by showing that customer ratings are not evenly distributed across all restaurant types—suggesting that factors associated with different restaurant categories may influence how customers evaluate their dining experience.</a:t>
            </a:r>
            <a:endParaRPr lang="en-US" sz="2400" b="0" strike="noStrike" dirty="0">
              <a:solidFill>
                <a:srgbClr val="FF0000"/>
              </a:solidFill>
              <a:latin typeface="Arial"/>
            </a:endParaRPr>
          </a:p>
        </p:txBody>
      </p:sp>
    </p:spTree>
    <p:extLst>
      <p:ext uri="{BB962C8B-B14F-4D97-AF65-F5344CB8AC3E}">
        <p14:creationId xmlns:p14="http://schemas.microsoft.com/office/powerpoint/2010/main" val="3080750347"/>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146</TotalTime>
  <Words>1178</Words>
  <Application>Microsoft Office PowerPoint</Application>
  <PresentationFormat>Widescreen</PresentationFormat>
  <Paragraphs>91</Paragraphs>
  <Slides>12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Herts Theme</vt:lpstr>
      <vt:lpstr>Visualization and Analysis –  Tutorial Presentation for Feedback Date:  </vt:lpstr>
      <vt:lpstr>This dataset is interesting to us because: It provides real restaurant information, allowing us to explore how different restaurant features relate to customer ratings.  Our  Independent variable is: Restaurant_Type This is the category of restaurant (e.g., Casual Dining, Café, Bar). This  Independent variable datatype is: Nominal  Our Dependent variable is: Ratings_out_of_5 This is the customer rating score given to each restaurant. This Dependent variable datatype is: Interval/measurement data</vt:lpstr>
      <vt:lpstr>PowerPoint Presentation</vt:lpstr>
      <vt:lpstr>1. Boxplots (to include outliers) (place the dependent variable on the y-axis and independent variable sub-categories on the x axis) 2. A histogram to include the normal curve overlay. The histogram plots data from your dependent variable only.  Clearly label you axes to include variable name in proper English, and units of measurement  (e.g. currency $, type of weight kg, etc). Include a title to give your plot/visualisation a context.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Nikith Mallapareddy</cp:lastModifiedBy>
  <cp:revision>6</cp:revision>
  <dcterms:created xsi:type="dcterms:W3CDTF">2019-10-01T08:37:56Z</dcterms:created>
  <dcterms:modified xsi:type="dcterms:W3CDTF">2025-12-11T14:47:50Z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